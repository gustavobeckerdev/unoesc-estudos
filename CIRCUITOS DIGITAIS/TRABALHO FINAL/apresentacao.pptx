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Sabon Italics" charset="1" panose="02020502050506090303"/>
      <p:regular r:id="rId12"/>
    </p:embeddedFont>
    <p:embeddedFont>
      <p:font typeface="Migra Ultra-Bold Italics" charset="1" panose="000009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9738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441608"/>
            <a:ext cx="4099345" cy="1301542"/>
          </a:xfrm>
          <a:custGeom>
            <a:avLst/>
            <a:gdLst/>
            <a:ahLst/>
            <a:cxnLst/>
            <a:rect r="r" b="b" t="t" l="l"/>
            <a:pathLst>
              <a:path h="1301542" w="4099345">
                <a:moveTo>
                  <a:pt x="0" y="0"/>
                </a:moveTo>
                <a:lnTo>
                  <a:pt x="4099345" y="0"/>
                </a:lnTo>
                <a:lnTo>
                  <a:pt x="4099345" y="1301542"/>
                </a:lnTo>
                <a:lnTo>
                  <a:pt x="0" y="1301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79688" y="4446371"/>
            <a:ext cx="9528625" cy="20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9"/>
              </a:lnSpc>
            </a:pPr>
            <a:r>
              <a:rPr lang="en-US" sz="3486" i="true" spc="52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O QUE É/COMO FUNCIONA</a:t>
            </a:r>
          </a:p>
          <a:p>
            <a:pPr algn="ctr">
              <a:lnSpc>
                <a:spcPts val="4009"/>
              </a:lnSpc>
            </a:pPr>
            <a:r>
              <a:rPr lang="en-US" sz="3486" i="true" spc="52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DIFERENÇAS DOS PCS ATUAIS</a:t>
            </a:r>
          </a:p>
          <a:p>
            <a:pPr algn="ctr">
              <a:lnSpc>
                <a:spcPts val="4009"/>
              </a:lnSpc>
            </a:pPr>
            <a:r>
              <a:rPr lang="en-US" sz="3486" i="true" spc="52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ONDE PODE SER APLICADO </a:t>
            </a:r>
          </a:p>
          <a:p>
            <a:pPr algn="ctr">
              <a:lnSpc>
                <a:spcPts val="4009"/>
              </a:lnSpc>
            </a:pPr>
            <a:r>
              <a:rPr lang="en-US" sz="3486" i="true" spc="52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VANTAGENS DO USO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486400" y="6831815"/>
            <a:ext cx="7315200" cy="651718"/>
          </a:xfrm>
          <a:custGeom>
            <a:avLst/>
            <a:gdLst/>
            <a:ahLst/>
            <a:cxnLst/>
            <a:rect r="r" b="b" t="t" l="l"/>
            <a:pathLst>
              <a:path h="651718" w="7315200">
                <a:moveTo>
                  <a:pt x="0" y="0"/>
                </a:moveTo>
                <a:lnTo>
                  <a:pt x="7315200" y="0"/>
                </a:lnTo>
                <a:lnTo>
                  <a:pt x="7315200" y="651718"/>
                </a:lnTo>
                <a:lnTo>
                  <a:pt x="0" y="6517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08597" y="8554687"/>
            <a:ext cx="13124111" cy="98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CIRCUITOS DIGITAIS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1945" y="1724025"/>
            <a:ext cx="13124111" cy="249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81"/>
              </a:lnSpc>
            </a:pPr>
            <a:r>
              <a:rPr lang="en-US" b="true" sz="16278" i="true">
                <a:solidFill>
                  <a:srgbClr val="8B61C2"/>
                </a:solidFill>
                <a:latin typeface="Migra Ultra-Bold Italics"/>
                <a:ea typeface="Migra Ultra-Bold Italics"/>
                <a:cs typeface="Migra Ultra-Bold Italics"/>
                <a:sym typeface="Migra Ultra-Bold Italics"/>
              </a:rPr>
              <a:t> COMPUTAÇÃO</a:t>
            </a:r>
          </a:p>
          <a:p>
            <a:pPr algn="ctr">
              <a:lnSpc>
                <a:spcPts val="7093"/>
              </a:lnSpc>
            </a:pPr>
            <a:r>
              <a:rPr lang="en-US" b="true" sz="10913" i="true">
                <a:solidFill>
                  <a:srgbClr val="FFFFFF"/>
                </a:solidFill>
                <a:latin typeface="Migra Ultra-Bold Italics"/>
                <a:ea typeface="Migra Ultra-Bold Italics"/>
                <a:cs typeface="Migra Ultra-Bold Italics"/>
                <a:sym typeface="Migra Ultra-Bold Italics"/>
              </a:rPr>
              <a:t>NEUROMÓRFICA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7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92121"/>
            <a:ext cx="16252313" cy="1558043"/>
            <a:chOff x="0" y="0"/>
            <a:chExt cx="21669751" cy="20773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5728" cy="2077390"/>
            </a:xfrm>
            <a:custGeom>
              <a:avLst/>
              <a:gdLst/>
              <a:ahLst/>
              <a:cxnLst/>
              <a:rect r="r" b="b" t="t" l="l"/>
              <a:pathLst>
                <a:path h="2077390" w="2095728">
                  <a:moveTo>
                    <a:pt x="0" y="0"/>
                  </a:moveTo>
                  <a:lnTo>
                    <a:pt x="2095728" y="0"/>
                  </a:lnTo>
                  <a:lnTo>
                    <a:pt x="2095728" y="2077390"/>
                  </a:lnTo>
                  <a:lnTo>
                    <a:pt x="0" y="20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622345" y="353521"/>
              <a:ext cx="19047406" cy="1275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29"/>
                </a:lnSpc>
              </a:pPr>
              <a:r>
                <a:rPr lang="en-US" sz="5852" i="true" spc="877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O QUE É / COMO FUNCIONA?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12843" y="2923436"/>
            <a:ext cx="13124111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É UMA FORMA DE </a:t>
            </a:r>
            <a:r>
              <a:rPr lang="en-US" sz="3999" i="true" spc="599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COMPUTAÇÃO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 INSPIRADA NO CÉREBRO HUMANO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37969" y="4844311"/>
            <a:ext cx="13858902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99"/>
              </a:lnSpc>
            </a:pP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USA </a:t>
            </a:r>
            <a:r>
              <a:rPr lang="en-US" sz="3999" i="true" spc="599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“NEURÔNIOS”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 E </a:t>
            </a:r>
            <a:r>
              <a:rPr lang="en-US" sz="3999" i="true" spc="599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“SINAPSES”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 ARTIFICIAIS EM CHIPS, PROCESSANDO VÁRIAS INFORMAÇÕES AO MESMO TEMPO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2843" y="7387572"/>
            <a:ext cx="15684028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TEM COMO OBJETIVO CRIAR SISTEMAS QUE APRENDEM E SE ADAPTAM DE FORMA NATURAL, COM </a:t>
            </a:r>
            <a:r>
              <a:rPr lang="en-US" sz="3999" i="true" spc="599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BAIXO CONSUMO DE ENERGIA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445879" y="5134927"/>
            <a:ext cx="4099345" cy="1301542"/>
          </a:xfrm>
          <a:custGeom>
            <a:avLst/>
            <a:gdLst/>
            <a:ahLst/>
            <a:cxnLst/>
            <a:rect r="r" b="b" t="t" l="l"/>
            <a:pathLst>
              <a:path h="1301542" w="4099345">
                <a:moveTo>
                  <a:pt x="0" y="0"/>
                </a:moveTo>
                <a:lnTo>
                  <a:pt x="4099345" y="0"/>
                </a:lnTo>
                <a:lnTo>
                  <a:pt x="4099345" y="1301542"/>
                </a:lnTo>
                <a:lnTo>
                  <a:pt x="0" y="1301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7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115984"/>
            <a:ext cx="1571796" cy="1558043"/>
          </a:xfrm>
          <a:custGeom>
            <a:avLst/>
            <a:gdLst/>
            <a:ahLst/>
            <a:cxnLst/>
            <a:rect r="r" b="b" t="t" l="l"/>
            <a:pathLst>
              <a:path h="1558043" w="1571796">
                <a:moveTo>
                  <a:pt x="0" y="0"/>
                </a:moveTo>
                <a:lnTo>
                  <a:pt x="1571796" y="0"/>
                </a:lnTo>
                <a:lnTo>
                  <a:pt x="1571796" y="1558043"/>
                </a:lnTo>
                <a:lnTo>
                  <a:pt x="0" y="1558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95459" y="933450"/>
            <a:ext cx="14285555" cy="182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DIFERENÇA EM RELAÇÃO AOS COMPUTADORES ATUAIS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048523"/>
            <a:ext cx="12543389" cy="228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823" i="true" spc="57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ARQUITETURA TRADICIONAL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: PC’S USAM A ARQUITETURA DE VON NEUMANN (PROCESSADOR SEPARADO DA MEMÓRIA).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22111" y="5606449"/>
            <a:ext cx="13858902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99"/>
              </a:lnSpc>
            </a:pPr>
            <a:r>
              <a:rPr lang="en-US" sz="3999" i="true" spc="599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ARQUITETURA NEUROMÓRFICA: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 INTEGRA MEMÓRIA E PROCESSAMENTO, COMO O CÉREBRO.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708299"/>
            <a:ext cx="15684028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 i="true" spc="599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IMPACTO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: MAIOR EFICIÊNCIA EM TAREFAS ESPECÍFICAS, COMO RECONHECIMENTO DE PADRÕES, E MENOR GASTO DE ENERGIA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7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79405"/>
            <a:ext cx="1571796" cy="1558043"/>
          </a:xfrm>
          <a:custGeom>
            <a:avLst/>
            <a:gdLst/>
            <a:ahLst/>
            <a:cxnLst/>
            <a:rect r="r" b="b" t="t" l="l"/>
            <a:pathLst>
              <a:path h="1558043" w="1571796">
                <a:moveTo>
                  <a:pt x="0" y="0"/>
                </a:moveTo>
                <a:lnTo>
                  <a:pt x="1571796" y="0"/>
                </a:lnTo>
                <a:lnTo>
                  <a:pt x="1571796" y="1558043"/>
                </a:lnTo>
                <a:lnTo>
                  <a:pt x="0" y="1558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72306" y="1020734"/>
            <a:ext cx="14285555" cy="98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ONDE PODE SER APLICADO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6196" y="2717632"/>
            <a:ext cx="12543389" cy="172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823" i="true" spc="57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INTELIGÊNCIA ARTIFICIAL: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RECONHECIMENTO DE IMAGENS, SONS E PADRÕES.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91312" y="4399258"/>
            <a:ext cx="12543389" cy="172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6"/>
              </a:lnSpc>
            </a:pPr>
            <a:r>
              <a:rPr lang="en-US" sz="3823" i="true" spc="57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ROBÓTICA: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TOMADA DE DECISÃO RÁPIDA E CONTROLE MOTOR EFICIENTE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6196" y="6223102"/>
            <a:ext cx="12543389" cy="117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823" i="true" spc="57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IOT: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SENSORES INTELIGENTES COM BAIXÍSSIMO CONSUMO DE ENERGIA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91312" y="7972060"/>
            <a:ext cx="12543389" cy="117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6"/>
              </a:lnSpc>
            </a:pPr>
            <a:r>
              <a:rPr lang="en-US" sz="3823" i="true" spc="57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SAÚDE E CIÊNCIA: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MODELAGEM DO CÉREBRO E APOIO EM DIAGNÓSTICOS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7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23861"/>
            <a:ext cx="1571796" cy="1558043"/>
          </a:xfrm>
          <a:custGeom>
            <a:avLst/>
            <a:gdLst/>
            <a:ahLst/>
            <a:cxnLst/>
            <a:rect r="r" b="b" t="t" l="l"/>
            <a:pathLst>
              <a:path h="1558043" w="1571796">
                <a:moveTo>
                  <a:pt x="0" y="0"/>
                </a:moveTo>
                <a:lnTo>
                  <a:pt x="1571796" y="0"/>
                </a:lnTo>
                <a:lnTo>
                  <a:pt x="1571796" y="1558043"/>
                </a:lnTo>
                <a:lnTo>
                  <a:pt x="0" y="1558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45015" y="4024511"/>
            <a:ext cx="13114285" cy="154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86"/>
              </a:lnSpc>
            </a:pPr>
            <a:r>
              <a:rPr lang="en-US" sz="3379" i="true" spc="506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PROCESSANEBTO ASSÍNCRONO: </a:t>
            </a:r>
            <a:r>
              <a:rPr lang="en-US" sz="3379" i="true" spc="506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CONSEGUEM LIDAR COM VÁRIAS INFORMAÇÕE E PROCESSOS AO MESMO TEMPO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2306" y="665190"/>
            <a:ext cx="14285555" cy="98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VANTEGENS E GANHOS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91113"/>
            <a:ext cx="14546976" cy="155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3420" i="true" spc="51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EFICIÊNCIA ENERGÉTICA: </a:t>
            </a:r>
            <a:r>
              <a:rPr lang="en-US" sz="3420" i="true" spc="51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CHIPS NEUROMÓRFICOS CONSOMEM MUITO MENOS ENERGIA QUE OS PROCESSADORES TRADICIONAIS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820727"/>
            <a:ext cx="13535741" cy="145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3200" i="true" spc="480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APRENDIZADO ADAPTATIVO: </a:t>
            </a:r>
            <a:r>
              <a:rPr lang="en-US" sz="3200" i="true" spc="480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PODEM SE AJUSTAR E APRENDER COM NOVAS INFORMAÇÕES SEM PRECISAR SER REPROGRAMADO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1600" y="7528381"/>
            <a:ext cx="16667700" cy="228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6"/>
              </a:lnSpc>
            </a:pPr>
            <a:r>
              <a:rPr lang="en-US" sz="3823" i="true" spc="57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VELOCIDADE E ESCALABILIDADE: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RAPIDEZ SUPERIOR EM PROBLEMAS DE MACHINE LEARNING, QUANTO MAIS ‘NEURÔNIOS’ ADICIONADOS, MAIS PODEROSO O SISTEMA SE TORNA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9738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00647" y="5143500"/>
            <a:ext cx="9340012" cy="2234229"/>
            <a:chOff x="0" y="0"/>
            <a:chExt cx="12453349" cy="2978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8088" cy="642417"/>
            </a:xfrm>
            <a:custGeom>
              <a:avLst/>
              <a:gdLst/>
              <a:ahLst/>
              <a:cxnLst/>
              <a:rect r="r" b="b" t="t" l="l"/>
              <a:pathLst>
                <a:path h="642417" w="648088">
                  <a:moveTo>
                    <a:pt x="0" y="0"/>
                  </a:moveTo>
                  <a:lnTo>
                    <a:pt x="648088" y="0"/>
                  </a:lnTo>
                  <a:lnTo>
                    <a:pt x="648088" y="642417"/>
                  </a:lnTo>
                  <a:lnTo>
                    <a:pt x="0" y="642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49655" y="-57150"/>
              <a:ext cx="11503694" cy="30361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24"/>
                </a:lnSpc>
              </a:pPr>
              <a:r>
                <a:rPr lang="en-US" sz="3847" i="true" spc="577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ELYEL DOS SANTOS</a:t>
              </a:r>
            </a:p>
            <a:p>
              <a:pPr algn="just">
                <a:lnSpc>
                  <a:spcPts val="4424"/>
                </a:lnSpc>
              </a:pPr>
              <a:r>
                <a:rPr lang="en-US" sz="3847" i="true" spc="577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FRANKLIN MEIRA</a:t>
              </a:r>
            </a:p>
            <a:p>
              <a:pPr algn="just">
                <a:lnSpc>
                  <a:spcPts val="4424"/>
                </a:lnSpc>
              </a:pPr>
              <a:r>
                <a:rPr lang="en-US" sz="3847" i="true" spc="577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GUSTAVO BECKER</a:t>
              </a:r>
            </a:p>
            <a:p>
              <a:pPr algn="just">
                <a:lnSpc>
                  <a:spcPts val="4424"/>
                </a:lnSpc>
              </a:pPr>
              <a:r>
                <a:rPr lang="en-US" sz="3847" i="true" spc="577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JACKSON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765250"/>
              <a:ext cx="648088" cy="642417"/>
            </a:xfrm>
            <a:custGeom>
              <a:avLst/>
              <a:gdLst/>
              <a:ahLst/>
              <a:cxnLst/>
              <a:rect r="r" b="b" t="t" l="l"/>
              <a:pathLst>
                <a:path h="642417" w="648088">
                  <a:moveTo>
                    <a:pt x="0" y="0"/>
                  </a:moveTo>
                  <a:lnTo>
                    <a:pt x="648088" y="0"/>
                  </a:lnTo>
                  <a:lnTo>
                    <a:pt x="648088" y="642417"/>
                  </a:lnTo>
                  <a:lnTo>
                    <a:pt x="0" y="642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523738"/>
              <a:ext cx="648088" cy="642417"/>
            </a:xfrm>
            <a:custGeom>
              <a:avLst/>
              <a:gdLst/>
              <a:ahLst/>
              <a:cxnLst/>
              <a:rect r="r" b="b" t="t" l="l"/>
              <a:pathLst>
                <a:path h="642417" w="648088">
                  <a:moveTo>
                    <a:pt x="0" y="0"/>
                  </a:moveTo>
                  <a:lnTo>
                    <a:pt x="648088" y="0"/>
                  </a:lnTo>
                  <a:lnTo>
                    <a:pt x="648088" y="642417"/>
                  </a:lnTo>
                  <a:lnTo>
                    <a:pt x="0" y="642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282225"/>
              <a:ext cx="648088" cy="642417"/>
            </a:xfrm>
            <a:custGeom>
              <a:avLst/>
              <a:gdLst/>
              <a:ahLst/>
              <a:cxnLst/>
              <a:rect r="r" b="b" t="t" l="l"/>
              <a:pathLst>
                <a:path h="642417" w="648088">
                  <a:moveTo>
                    <a:pt x="0" y="0"/>
                  </a:moveTo>
                  <a:lnTo>
                    <a:pt x="648088" y="0"/>
                  </a:lnTo>
                  <a:lnTo>
                    <a:pt x="648088" y="642417"/>
                  </a:lnTo>
                  <a:lnTo>
                    <a:pt x="0" y="642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8441608"/>
            <a:ext cx="4099345" cy="1301542"/>
          </a:xfrm>
          <a:custGeom>
            <a:avLst/>
            <a:gdLst/>
            <a:ahLst/>
            <a:cxnLst/>
            <a:rect r="r" b="b" t="t" l="l"/>
            <a:pathLst>
              <a:path h="1301542" w="4099345">
                <a:moveTo>
                  <a:pt x="0" y="0"/>
                </a:moveTo>
                <a:lnTo>
                  <a:pt x="4099345" y="0"/>
                </a:lnTo>
                <a:lnTo>
                  <a:pt x="4099345" y="1301542"/>
                </a:lnTo>
                <a:lnTo>
                  <a:pt x="0" y="1301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08597" y="8554687"/>
            <a:ext cx="13124111" cy="98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CIRCUITOS DIGITAIS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81945" y="2432008"/>
            <a:ext cx="13124111" cy="178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81"/>
              </a:lnSpc>
            </a:pPr>
            <a:r>
              <a:rPr lang="en-US" b="true" sz="16278" i="true">
                <a:solidFill>
                  <a:srgbClr val="8B61C2"/>
                </a:solidFill>
                <a:latin typeface="Migra Ultra-Bold Italics"/>
                <a:ea typeface="Migra Ultra-Bold Italics"/>
                <a:cs typeface="Migra Ultra-Bold Italics"/>
                <a:sym typeface="Migra Ultra-Bold Italics"/>
              </a:rPr>
              <a:t>OBRIGADO 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DAHMgwGToY8</dc:identifier>
  <dcterms:modified xsi:type="dcterms:W3CDTF">2011-08-01T06:04:30Z</dcterms:modified>
  <cp:revision>1</cp:revision>
  <dc:title>tech powered</dc:title>
</cp:coreProperties>
</file>