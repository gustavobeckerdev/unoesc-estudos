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nton Italics" panose="020B0604020202020204" charset="0"/>
      <p:regular r:id="rId12"/>
    </p:embeddedFont>
    <p:embeddedFont>
      <p:font typeface="Arial Nova Italics" panose="020B0604020202020204" charset="0"/>
      <p:regular r:id="rId13"/>
    </p:embeddedFont>
    <p:embeddedFont>
      <p:font typeface="Neo Tech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jpeg"/><Relationship Id="rId7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sv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eg"/><Relationship Id="rId7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3.jpeg"/><Relationship Id="rId7" Type="http://schemas.openxmlformats.org/officeDocument/2006/relationships/image" Target="../media/image2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.png"/><Relationship Id="rId4" Type="http://schemas.openxmlformats.org/officeDocument/2006/relationships/image" Target="../media/image23.jpeg"/><Relationship Id="rId9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" b="-13370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4899128" y="6296209"/>
            <a:ext cx="8489744" cy="2061380"/>
            <a:chOff x="0" y="0"/>
            <a:chExt cx="11319658" cy="2748506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748506" cy="2748506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1044" r="-11709" b="-11548"/>
                </a:stretch>
              </a:blipFill>
              <a:ln w="38100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3576753" y="91546"/>
              <a:ext cx="7742905" cy="13235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169"/>
                </a:lnSpc>
              </a:pPr>
              <a:r>
                <a:rPr lang="en-US" sz="5974" b="1" spc="-119">
                  <a:solidFill>
                    <a:srgbClr val="00CC66"/>
                  </a:solidFill>
                  <a:latin typeface="Neo Tech Bold"/>
                  <a:ea typeface="Neo Tech Bold"/>
                  <a:cs typeface="Neo Tech Bold"/>
                  <a:sym typeface="Neo Tech Bold"/>
                </a:rPr>
                <a:t>CONTESTADOS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576753" y="1357990"/>
              <a:ext cx="5733891" cy="11846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7"/>
                </a:lnSpc>
              </a:pPr>
              <a:r>
                <a:rPr lang="en-US" sz="2789" b="1" spc="-55">
                  <a:solidFill>
                    <a:srgbClr val="FFFFFF"/>
                  </a:solidFill>
                  <a:latin typeface="Neo Tech Bold"/>
                  <a:ea typeface="Neo Tech Bold"/>
                  <a:cs typeface="Neo Tech Bold"/>
                  <a:sym typeface="Neo Tech Bold"/>
                </a:rPr>
                <a:t>GUSTAVO BECKER &amp; FRANKLIN KAUAN MEIRA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8951183" y="1100094"/>
            <a:ext cx="36318361" cy="2259526"/>
            <a:chOff x="0" y="0"/>
            <a:chExt cx="48424482" cy="3012701"/>
          </a:xfrm>
        </p:grpSpPr>
        <p:grpSp>
          <p:nvGrpSpPr>
            <p:cNvPr id="10" name="Group 10"/>
            <p:cNvGrpSpPr/>
            <p:nvPr/>
          </p:nvGrpSpPr>
          <p:grpSpPr>
            <a:xfrm rot="-10800000">
              <a:off x="24212241" y="0"/>
              <a:ext cx="24212241" cy="3012701"/>
              <a:chOff x="0" y="0"/>
              <a:chExt cx="4782665" cy="59510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782665" cy="595101"/>
              </a:xfrm>
              <a:custGeom>
                <a:avLst/>
                <a:gdLst/>
                <a:ahLst/>
                <a:cxnLst/>
                <a:rect l="l" t="t" r="r" b="b"/>
                <a:pathLst>
                  <a:path w="4782665" h="595101">
                    <a:moveTo>
                      <a:pt x="0" y="0"/>
                    </a:moveTo>
                    <a:lnTo>
                      <a:pt x="4782665" y="0"/>
                    </a:lnTo>
                    <a:lnTo>
                      <a:pt x="4782665" y="595101"/>
                    </a:lnTo>
                    <a:lnTo>
                      <a:pt x="0" y="5951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28575"/>
                <a:ext cx="4782665" cy="623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24212241" cy="3012701"/>
              <a:chOff x="0" y="0"/>
              <a:chExt cx="4782665" cy="5951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4782665" cy="595101"/>
              </a:xfrm>
              <a:custGeom>
                <a:avLst/>
                <a:gdLst/>
                <a:ahLst/>
                <a:cxnLst/>
                <a:rect l="l" t="t" r="r" b="b"/>
                <a:pathLst>
                  <a:path w="4782665" h="595101">
                    <a:moveTo>
                      <a:pt x="0" y="0"/>
                    </a:moveTo>
                    <a:lnTo>
                      <a:pt x="4782665" y="0"/>
                    </a:lnTo>
                    <a:lnTo>
                      <a:pt x="4782665" y="595101"/>
                    </a:lnTo>
                    <a:lnTo>
                      <a:pt x="0" y="5951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4782665" cy="623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1909334" y="1812344"/>
            <a:ext cx="14597327" cy="102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00"/>
              </a:lnSpc>
            </a:pPr>
            <a:r>
              <a:rPr lang="en-US" sz="8000" spc="-320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PROPRIEDADE INTELECTUAL EM SOFTWARE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32102" y="4479587"/>
            <a:ext cx="11823796" cy="66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2"/>
              </a:lnSpc>
            </a:pPr>
            <a:r>
              <a:rPr lang="en-US" sz="5245" spc="-209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 Italics"/>
                <a:ea typeface="Anton Italics"/>
                <a:cs typeface="Anton Italics"/>
                <a:sym typeface="Anton Italics"/>
              </a:rPr>
              <a:t>MATÉRIA: PRINCÍPIOS E APLICAÇÕES DA COMPUTAÇÃO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 dirty="0"/>
          </a:p>
        </p:txBody>
      </p:sp>
      <p:grpSp>
        <p:nvGrpSpPr>
          <p:cNvPr id="3" name="Group 3"/>
          <p:cNvGrpSpPr/>
          <p:nvPr/>
        </p:nvGrpSpPr>
        <p:grpSpPr>
          <a:xfrm>
            <a:off x="-4148014" y="668412"/>
            <a:ext cx="19107298" cy="2023073"/>
            <a:chOff x="0" y="0"/>
            <a:chExt cx="5032366" cy="5321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32366" cy="532111"/>
            </a:xfrm>
            <a:custGeom>
              <a:avLst/>
              <a:gdLst/>
              <a:ahLst/>
              <a:cxnLst/>
              <a:rect l="l" t="t" r="r" b="b"/>
              <a:pathLst>
                <a:path w="5032366" h="532111">
                  <a:moveTo>
                    <a:pt x="5032366" y="0"/>
                  </a:moveTo>
                  <a:lnTo>
                    <a:pt x="5032366" y="532111"/>
                  </a:lnTo>
                  <a:lnTo>
                    <a:pt x="0" y="532111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66">
                    <a:alpha val="61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5032366" cy="560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907035" y="3052290"/>
            <a:ext cx="4380965" cy="3829758"/>
            <a:chOff x="0" y="0"/>
            <a:chExt cx="5841286" cy="5106345"/>
          </a:xfrm>
        </p:grpSpPr>
        <p:grpSp>
          <p:nvGrpSpPr>
            <p:cNvPr id="7" name="Group 7"/>
            <p:cNvGrpSpPr/>
            <p:nvPr/>
          </p:nvGrpSpPr>
          <p:grpSpPr>
            <a:xfrm rot="-10800000">
              <a:off x="3412394" y="2152737"/>
              <a:ext cx="2428893" cy="2082335"/>
              <a:chOff x="0" y="0"/>
              <a:chExt cx="479781" cy="4113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9781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479781" h="411325">
                    <a:moveTo>
                      <a:pt x="0" y="0"/>
                    </a:moveTo>
                    <a:lnTo>
                      <a:pt x="479781" y="0"/>
                    </a:lnTo>
                    <a:lnTo>
                      <a:pt x="479781" y="411325"/>
                    </a:lnTo>
                    <a:lnTo>
                      <a:pt x="0" y="41132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E9D81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479781" cy="43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5484795" cy="5106345"/>
              <a:chOff x="0" y="0"/>
              <a:chExt cx="6350000" cy="59118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02" y="0"/>
                <a:ext cx="6348428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6348428" h="5911850">
                    <a:moveTo>
                      <a:pt x="1146508" y="402590"/>
                    </a:moveTo>
                    <a:lnTo>
                      <a:pt x="108918" y="2192020"/>
                    </a:lnTo>
                    <a:cubicBezTo>
                      <a:pt x="-68882" y="2498090"/>
                      <a:pt x="-25702" y="2884170"/>
                      <a:pt x="214328" y="3144520"/>
                    </a:cubicBezTo>
                    <a:lnTo>
                      <a:pt x="2525728" y="5651500"/>
                    </a:lnTo>
                    <a:cubicBezTo>
                      <a:pt x="2678128" y="5817870"/>
                      <a:pt x="2894028" y="5911850"/>
                      <a:pt x="3118818" y="5911850"/>
                    </a:cubicBezTo>
                    <a:lnTo>
                      <a:pt x="5540708" y="5911850"/>
                    </a:lnTo>
                    <a:cubicBezTo>
                      <a:pt x="5986478" y="5911850"/>
                      <a:pt x="6348428" y="5549900"/>
                      <a:pt x="6348428" y="5104130"/>
                    </a:cubicBezTo>
                    <a:lnTo>
                      <a:pt x="6348428" y="1891030"/>
                    </a:lnTo>
                    <a:cubicBezTo>
                      <a:pt x="6348428" y="1724660"/>
                      <a:pt x="6297628" y="1562100"/>
                      <a:pt x="6201108" y="1426210"/>
                    </a:cubicBezTo>
                    <a:lnTo>
                      <a:pt x="5439108" y="342900"/>
                    </a:lnTo>
                    <a:cubicBezTo>
                      <a:pt x="5287978" y="128270"/>
                      <a:pt x="5041598" y="0"/>
                      <a:pt x="4778708" y="0"/>
                    </a:cubicBezTo>
                    <a:lnTo>
                      <a:pt x="1845008" y="0"/>
                    </a:lnTo>
                    <a:cubicBezTo>
                      <a:pt x="1556718" y="0"/>
                      <a:pt x="1290018" y="153670"/>
                      <a:pt x="1146508" y="40259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1807" r="-11807"/>
                </a:stretch>
              </a:blipFill>
              <a:ln w="47625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6009669" y="8008669"/>
            <a:ext cx="1249631" cy="124963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1044" r="-11709" b="-11548"/>
              </a:stretch>
            </a:blipFill>
            <a:ln w="38100" cap="sq">
              <a:solidFill>
                <a:srgbClr val="00CC6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4066388"/>
            <a:ext cx="12363985" cy="5191912"/>
            <a:chOff x="0" y="0"/>
            <a:chExt cx="16485314" cy="6922549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6485314" cy="2061057"/>
              <a:chOff x="0" y="0"/>
              <a:chExt cx="1441468" cy="180218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1468" cy="180218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180218">
                    <a:moveTo>
                      <a:pt x="1441468" y="45514"/>
                    </a:moveTo>
                    <a:lnTo>
                      <a:pt x="1441468" y="134704"/>
                    </a:lnTo>
                    <a:cubicBezTo>
                      <a:pt x="1441468" y="146775"/>
                      <a:pt x="1436673" y="158352"/>
                      <a:pt x="1428138" y="166887"/>
                    </a:cubicBezTo>
                    <a:cubicBezTo>
                      <a:pt x="1419602" y="175422"/>
                      <a:pt x="1408026" y="180218"/>
                      <a:pt x="1395955" y="180218"/>
                    </a:cubicBezTo>
                    <a:lnTo>
                      <a:pt x="45514" y="180218"/>
                    </a:lnTo>
                    <a:cubicBezTo>
                      <a:pt x="33443" y="180218"/>
                      <a:pt x="21866" y="175422"/>
                      <a:pt x="13331" y="166887"/>
                    </a:cubicBezTo>
                    <a:cubicBezTo>
                      <a:pt x="4795" y="158352"/>
                      <a:pt x="0" y="146775"/>
                      <a:pt x="0" y="134704"/>
                    </a:cubicBezTo>
                    <a:lnTo>
                      <a:pt x="0" y="45514"/>
                    </a:lnTo>
                    <a:cubicBezTo>
                      <a:pt x="0" y="33443"/>
                      <a:pt x="4795" y="21866"/>
                      <a:pt x="13331" y="13331"/>
                    </a:cubicBezTo>
                    <a:cubicBezTo>
                      <a:pt x="21866" y="4795"/>
                      <a:pt x="33443" y="0"/>
                      <a:pt x="45514" y="0"/>
                    </a:cubicBezTo>
                    <a:lnTo>
                      <a:pt x="1395955" y="0"/>
                    </a:lnTo>
                    <a:cubicBezTo>
                      <a:pt x="1421091" y="0"/>
                      <a:pt x="1441468" y="20377"/>
                      <a:pt x="1441468" y="45514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1441468" cy="1802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2430746"/>
              <a:ext cx="16485314" cy="2061057"/>
              <a:chOff x="0" y="0"/>
              <a:chExt cx="1441468" cy="18021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441468" cy="180218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180218">
                    <a:moveTo>
                      <a:pt x="1441468" y="45514"/>
                    </a:moveTo>
                    <a:lnTo>
                      <a:pt x="1441468" y="134704"/>
                    </a:lnTo>
                    <a:cubicBezTo>
                      <a:pt x="1441468" y="146775"/>
                      <a:pt x="1436673" y="158352"/>
                      <a:pt x="1428138" y="166887"/>
                    </a:cubicBezTo>
                    <a:cubicBezTo>
                      <a:pt x="1419602" y="175422"/>
                      <a:pt x="1408026" y="180218"/>
                      <a:pt x="1395955" y="180218"/>
                    </a:cubicBezTo>
                    <a:lnTo>
                      <a:pt x="45514" y="180218"/>
                    </a:lnTo>
                    <a:cubicBezTo>
                      <a:pt x="33443" y="180218"/>
                      <a:pt x="21866" y="175422"/>
                      <a:pt x="13331" y="166887"/>
                    </a:cubicBezTo>
                    <a:cubicBezTo>
                      <a:pt x="4795" y="158352"/>
                      <a:pt x="0" y="146775"/>
                      <a:pt x="0" y="134704"/>
                    </a:cubicBezTo>
                    <a:lnTo>
                      <a:pt x="0" y="45514"/>
                    </a:lnTo>
                    <a:cubicBezTo>
                      <a:pt x="0" y="33443"/>
                      <a:pt x="4795" y="21866"/>
                      <a:pt x="13331" y="13331"/>
                    </a:cubicBezTo>
                    <a:cubicBezTo>
                      <a:pt x="21866" y="4795"/>
                      <a:pt x="33443" y="0"/>
                      <a:pt x="45514" y="0"/>
                    </a:cubicBezTo>
                    <a:lnTo>
                      <a:pt x="1395955" y="0"/>
                    </a:lnTo>
                    <a:cubicBezTo>
                      <a:pt x="1421091" y="0"/>
                      <a:pt x="1441468" y="20377"/>
                      <a:pt x="1441468" y="45514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0"/>
                <a:ext cx="1441468" cy="1802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4861492"/>
              <a:ext cx="16485314" cy="2061057"/>
              <a:chOff x="0" y="0"/>
              <a:chExt cx="1441468" cy="18021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441468" cy="180218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180218">
                    <a:moveTo>
                      <a:pt x="1441468" y="45514"/>
                    </a:moveTo>
                    <a:lnTo>
                      <a:pt x="1441468" y="134704"/>
                    </a:lnTo>
                    <a:cubicBezTo>
                      <a:pt x="1441468" y="146775"/>
                      <a:pt x="1436673" y="158352"/>
                      <a:pt x="1428138" y="166887"/>
                    </a:cubicBezTo>
                    <a:cubicBezTo>
                      <a:pt x="1419602" y="175422"/>
                      <a:pt x="1408026" y="180218"/>
                      <a:pt x="1395955" y="180218"/>
                    </a:cubicBezTo>
                    <a:lnTo>
                      <a:pt x="45514" y="180218"/>
                    </a:lnTo>
                    <a:cubicBezTo>
                      <a:pt x="33443" y="180218"/>
                      <a:pt x="21866" y="175422"/>
                      <a:pt x="13331" y="166887"/>
                    </a:cubicBezTo>
                    <a:cubicBezTo>
                      <a:pt x="4795" y="158352"/>
                      <a:pt x="0" y="146775"/>
                      <a:pt x="0" y="134704"/>
                    </a:cubicBezTo>
                    <a:lnTo>
                      <a:pt x="0" y="45514"/>
                    </a:lnTo>
                    <a:cubicBezTo>
                      <a:pt x="0" y="33443"/>
                      <a:pt x="4795" y="21866"/>
                      <a:pt x="13331" y="13331"/>
                    </a:cubicBezTo>
                    <a:cubicBezTo>
                      <a:pt x="21866" y="4795"/>
                      <a:pt x="33443" y="0"/>
                      <a:pt x="45514" y="0"/>
                    </a:cubicBezTo>
                    <a:lnTo>
                      <a:pt x="1395955" y="0"/>
                    </a:lnTo>
                    <a:cubicBezTo>
                      <a:pt x="1421091" y="0"/>
                      <a:pt x="1441468" y="20377"/>
                      <a:pt x="1441468" y="45514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1441468" cy="1802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691971" y="544860"/>
              <a:ext cx="929394" cy="1018261"/>
            </a:xfrm>
            <a:custGeom>
              <a:avLst/>
              <a:gdLst/>
              <a:ahLst/>
              <a:cxnLst/>
              <a:rect l="l" t="t" r="r" b="b"/>
              <a:pathLst>
                <a:path w="929394" h="1018261">
                  <a:moveTo>
                    <a:pt x="0" y="0"/>
                  </a:moveTo>
                  <a:lnTo>
                    <a:pt x="929394" y="0"/>
                  </a:lnTo>
                  <a:lnTo>
                    <a:pt x="929394" y="1018261"/>
                  </a:lnTo>
                  <a:lnTo>
                    <a:pt x="0" y="10182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691971" y="2961549"/>
              <a:ext cx="999451" cy="999451"/>
            </a:xfrm>
            <a:custGeom>
              <a:avLst/>
              <a:gdLst/>
              <a:ahLst/>
              <a:cxnLst/>
              <a:rect l="l" t="t" r="r" b="b"/>
              <a:pathLst>
                <a:path w="999451" h="999451">
                  <a:moveTo>
                    <a:pt x="0" y="0"/>
                  </a:moveTo>
                  <a:lnTo>
                    <a:pt x="999451" y="0"/>
                  </a:lnTo>
                  <a:lnTo>
                    <a:pt x="999451" y="999451"/>
                  </a:lnTo>
                  <a:lnTo>
                    <a:pt x="0" y="99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691971" y="5371275"/>
              <a:ext cx="1030437" cy="1003388"/>
            </a:xfrm>
            <a:custGeom>
              <a:avLst/>
              <a:gdLst/>
              <a:ahLst/>
              <a:cxnLst/>
              <a:rect l="l" t="t" r="r" b="b"/>
              <a:pathLst>
                <a:path w="1030437" h="1003388">
                  <a:moveTo>
                    <a:pt x="0" y="0"/>
                  </a:moveTo>
                  <a:lnTo>
                    <a:pt x="1030436" y="0"/>
                  </a:lnTo>
                  <a:lnTo>
                    <a:pt x="1030436" y="1003388"/>
                  </a:lnTo>
                  <a:lnTo>
                    <a:pt x="0" y="1003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13336" y="635543"/>
              <a:ext cx="10597788" cy="836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2"/>
                </a:lnSpc>
              </a:pPr>
              <a:r>
                <a:rPr lang="en-US" sz="4135" spc="-82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PROTEÇÃO JURÍDICA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13336" y="3042827"/>
              <a:ext cx="10597788" cy="836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2"/>
                </a:lnSpc>
              </a:pPr>
              <a:r>
                <a:rPr lang="en-US" sz="4135" spc="-82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APLICAÇÃO EM SOFTWARE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13336" y="5454522"/>
              <a:ext cx="10597788" cy="836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962"/>
                </a:lnSpc>
              </a:pPr>
              <a:r>
                <a:rPr lang="en-US" sz="4135" spc="-82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INCENTIVO À INOVAÇÃO</a:t>
              </a:r>
            </a:p>
          </p:txBody>
        </p:sp>
      </p:grpSp>
      <p:sp>
        <p:nvSpPr>
          <p:cNvPr id="30" name="Freeform 30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3" b="-133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1" name="TextBox 31"/>
          <p:cNvSpPr txBox="1"/>
          <p:nvPr/>
        </p:nvSpPr>
        <p:spPr>
          <a:xfrm>
            <a:off x="1028700" y="1219200"/>
            <a:ext cx="13523218" cy="102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1"/>
              </a:lnSpc>
            </a:pPr>
            <a:r>
              <a:rPr lang="en-US" sz="7990" spc="-319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O QUE É PROPRIEDADE INTELECTUAL?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541122" y="734427"/>
            <a:ext cx="25444611" cy="1880912"/>
            <a:chOff x="0" y="0"/>
            <a:chExt cx="6701461" cy="4953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01461" cy="495384"/>
            </a:xfrm>
            <a:custGeom>
              <a:avLst/>
              <a:gdLst/>
              <a:ahLst/>
              <a:cxnLst/>
              <a:rect l="l" t="t" r="r" b="b"/>
              <a:pathLst>
                <a:path w="6701461" h="495384">
                  <a:moveTo>
                    <a:pt x="0" y="0"/>
                  </a:moveTo>
                  <a:lnTo>
                    <a:pt x="6701461" y="0"/>
                  </a:lnTo>
                  <a:lnTo>
                    <a:pt x="6701461" y="495384"/>
                  </a:lnTo>
                  <a:lnTo>
                    <a:pt x="0" y="495384"/>
                  </a:lnTo>
                  <a:close/>
                </a:path>
              </a:pathLst>
            </a:custGeom>
            <a:gradFill rotWithShape="1">
              <a:gsLst>
                <a:gs pos="0">
                  <a:srgbClr val="00CC66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701461" cy="523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09669" y="8008669"/>
            <a:ext cx="1249631" cy="12496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1044" r="-11709" b="-11548"/>
              </a:stretch>
            </a:blipFill>
            <a:ln w="38100" cap="sq">
              <a:solidFill>
                <a:srgbClr val="00CC6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302277"/>
            <a:ext cx="10744209" cy="1343282"/>
            <a:chOff x="0" y="0"/>
            <a:chExt cx="1441468" cy="1802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36749"/>
                  </a:moveTo>
                  <a:lnTo>
                    <a:pt x="1441468" y="143469"/>
                  </a:lnTo>
                  <a:cubicBezTo>
                    <a:pt x="1441468" y="163765"/>
                    <a:pt x="1425015" y="180218"/>
                    <a:pt x="1404719" y="180218"/>
                  </a:cubicBezTo>
                  <a:lnTo>
                    <a:pt x="36749" y="180218"/>
                  </a:lnTo>
                  <a:cubicBezTo>
                    <a:pt x="16453" y="180218"/>
                    <a:pt x="0" y="163765"/>
                    <a:pt x="0" y="143469"/>
                  </a:cubicBezTo>
                  <a:lnTo>
                    <a:pt x="0" y="36749"/>
                  </a:lnTo>
                  <a:cubicBezTo>
                    <a:pt x="0" y="16453"/>
                    <a:pt x="16453" y="0"/>
                    <a:pt x="36749" y="0"/>
                  </a:cubicBezTo>
                  <a:lnTo>
                    <a:pt x="1404719" y="0"/>
                  </a:lnTo>
                  <a:cubicBezTo>
                    <a:pt x="1425015" y="0"/>
                    <a:pt x="1441468" y="16453"/>
                    <a:pt x="1441468" y="36749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62916" tIns="62916" rIns="62916" bIns="62916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870785"/>
            <a:ext cx="10744209" cy="1343282"/>
            <a:chOff x="0" y="0"/>
            <a:chExt cx="1441468" cy="1802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36749"/>
                  </a:moveTo>
                  <a:lnTo>
                    <a:pt x="1441468" y="143469"/>
                  </a:lnTo>
                  <a:cubicBezTo>
                    <a:pt x="1441468" y="163765"/>
                    <a:pt x="1425015" y="180218"/>
                    <a:pt x="1404719" y="180218"/>
                  </a:cubicBezTo>
                  <a:lnTo>
                    <a:pt x="36749" y="180218"/>
                  </a:lnTo>
                  <a:cubicBezTo>
                    <a:pt x="16453" y="180218"/>
                    <a:pt x="0" y="163765"/>
                    <a:pt x="0" y="143469"/>
                  </a:cubicBezTo>
                  <a:lnTo>
                    <a:pt x="0" y="36749"/>
                  </a:lnTo>
                  <a:cubicBezTo>
                    <a:pt x="0" y="16453"/>
                    <a:pt x="16453" y="0"/>
                    <a:pt x="36749" y="0"/>
                  </a:cubicBezTo>
                  <a:lnTo>
                    <a:pt x="1404719" y="0"/>
                  </a:lnTo>
                  <a:cubicBezTo>
                    <a:pt x="1425015" y="0"/>
                    <a:pt x="1441468" y="16453"/>
                    <a:pt x="1441468" y="36749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62916" tIns="62916" rIns="62916" bIns="62916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455010"/>
            <a:ext cx="10744209" cy="1343282"/>
            <a:chOff x="0" y="0"/>
            <a:chExt cx="1441468" cy="1802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36749"/>
                  </a:moveTo>
                  <a:lnTo>
                    <a:pt x="1441468" y="143469"/>
                  </a:lnTo>
                  <a:cubicBezTo>
                    <a:pt x="1441468" y="163765"/>
                    <a:pt x="1425015" y="180218"/>
                    <a:pt x="1404719" y="180218"/>
                  </a:cubicBezTo>
                  <a:lnTo>
                    <a:pt x="36749" y="180218"/>
                  </a:lnTo>
                  <a:cubicBezTo>
                    <a:pt x="16453" y="180218"/>
                    <a:pt x="0" y="163765"/>
                    <a:pt x="0" y="143469"/>
                  </a:cubicBezTo>
                  <a:lnTo>
                    <a:pt x="0" y="36749"/>
                  </a:lnTo>
                  <a:cubicBezTo>
                    <a:pt x="0" y="16453"/>
                    <a:pt x="16453" y="0"/>
                    <a:pt x="36749" y="0"/>
                  </a:cubicBezTo>
                  <a:lnTo>
                    <a:pt x="1404719" y="0"/>
                  </a:lnTo>
                  <a:cubicBezTo>
                    <a:pt x="1425015" y="0"/>
                    <a:pt x="1441468" y="16453"/>
                    <a:pt x="1441468" y="36749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62916" tIns="62916" rIns="62916" bIns="62916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907035" y="3052290"/>
            <a:ext cx="4380965" cy="3829758"/>
            <a:chOff x="0" y="0"/>
            <a:chExt cx="5841286" cy="5106345"/>
          </a:xfrm>
        </p:grpSpPr>
        <p:grpSp>
          <p:nvGrpSpPr>
            <p:cNvPr id="18" name="Group 18"/>
            <p:cNvGrpSpPr/>
            <p:nvPr/>
          </p:nvGrpSpPr>
          <p:grpSpPr>
            <a:xfrm rot="-10800000">
              <a:off x="3412394" y="2152737"/>
              <a:ext cx="2428893" cy="2082335"/>
              <a:chOff x="0" y="0"/>
              <a:chExt cx="479781" cy="4113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79781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479781" h="411325">
                    <a:moveTo>
                      <a:pt x="0" y="0"/>
                    </a:moveTo>
                    <a:lnTo>
                      <a:pt x="479781" y="0"/>
                    </a:lnTo>
                    <a:lnTo>
                      <a:pt x="479781" y="411325"/>
                    </a:lnTo>
                    <a:lnTo>
                      <a:pt x="0" y="41132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E9D81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479781" cy="43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0"/>
              <a:ext cx="5484795" cy="5106345"/>
              <a:chOff x="0" y="0"/>
              <a:chExt cx="6350000" cy="59118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02" y="0"/>
                <a:ext cx="6348428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6348428" h="5911850">
                    <a:moveTo>
                      <a:pt x="1146508" y="402590"/>
                    </a:moveTo>
                    <a:lnTo>
                      <a:pt x="108918" y="2192020"/>
                    </a:lnTo>
                    <a:cubicBezTo>
                      <a:pt x="-68882" y="2498090"/>
                      <a:pt x="-25702" y="2884170"/>
                      <a:pt x="214328" y="3144520"/>
                    </a:cubicBezTo>
                    <a:lnTo>
                      <a:pt x="2525728" y="5651500"/>
                    </a:lnTo>
                    <a:cubicBezTo>
                      <a:pt x="2678128" y="5817870"/>
                      <a:pt x="2894028" y="5911850"/>
                      <a:pt x="3118818" y="5911850"/>
                    </a:cubicBezTo>
                    <a:lnTo>
                      <a:pt x="5540708" y="5911850"/>
                    </a:lnTo>
                    <a:cubicBezTo>
                      <a:pt x="5986478" y="5911850"/>
                      <a:pt x="6348428" y="5549900"/>
                      <a:pt x="6348428" y="5104130"/>
                    </a:cubicBezTo>
                    <a:lnTo>
                      <a:pt x="6348428" y="1891030"/>
                    </a:lnTo>
                    <a:cubicBezTo>
                      <a:pt x="6348428" y="1724660"/>
                      <a:pt x="6297628" y="1562100"/>
                      <a:pt x="6201108" y="1426210"/>
                    </a:cubicBezTo>
                    <a:lnTo>
                      <a:pt x="5439108" y="342900"/>
                    </a:lnTo>
                    <a:cubicBezTo>
                      <a:pt x="5287978" y="128270"/>
                      <a:pt x="5041598" y="0"/>
                      <a:pt x="4778708" y="0"/>
                    </a:cubicBezTo>
                    <a:lnTo>
                      <a:pt x="1845008" y="0"/>
                    </a:lnTo>
                    <a:cubicBezTo>
                      <a:pt x="1556718" y="0"/>
                      <a:pt x="1290018" y="153670"/>
                      <a:pt x="1146508" y="40259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31858" r="-7651"/>
                </a:stretch>
              </a:blipFill>
              <a:ln w="47625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1028700" y="7935346"/>
            <a:ext cx="10744209" cy="1343282"/>
            <a:chOff x="0" y="0"/>
            <a:chExt cx="1441468" cy="18021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36749"/>
                  </a:moveTo>
                  <a:lnTo>
                    <a:pt x="1441468" y="143469"/>
                  </a:lnTo>
                  <a:cubicBezTo>
                    <a:pt x="1441468" y="163765"/>
                    <a:pt x="1425015" y="180218"/>
                    <a:pt x="1404719" y="180218"/>
                  </a:cubicBezTo>
                  <a:lnTo>
                    <a:pt x="36749" y="180218"/>
                  </a:lnTo>
                  <a:cubicBezTo>
                    <a:pt x="16453" y="180218"/>
                    <a:pt x="0" y="163765"/>
                    <a:pt x="0" y="143469"/>
                  </a:cubicBezTo>
                  <a:lnTo>
                    <a:pt x="0" y="36749"/>
                  </a:lnTo>
                  <a:cubicBezTo>
                    <a:pt x="0" y="16453"/>
                    <a:pt x="16453" y="0"/>
                    <a:pt x="36749" y="0"/>
                  </a:cubicBezTo>
                  <a:lnTo>
                    <a:pt x="1404719" y="0"/>
                  </a:lnTo>
                  <a:cubicBezTo>
                    <a:pt x="1425015" y="0"/>
                    <a:pt x="1441468" y="16453"/>
                    <a:pt x="1441468" y="36749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 i="1" u="sn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62916" tIns="62916" rIns="62916" bIns="62916" rtlCol="0" anchor="ctr"/>
            <a:lstStyle/>
            <a:p>
              <a:pPr algn="ctr">
                <a:lnSpc>
                  <a:spcPts val="1680"/>
                </a:lnSpc>
              </a:pPr>
              <a:endParaRPr i="1" u="sng" dirty="0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245506" y="1257370"/>
            <a:ext cx="7796988" cy="1025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600"/>
              </a:lnSpc>
            </a:pPr>
            <a:r>
              <a:rPr lang="en-US" sz="8000" spc="-320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BASE LEGAL NO BRASIL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33605" y="3597757"/>
            <a:ext cx="6907048" cy="55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593" spc="107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LEI DO SOFTWARE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36403" y="4093900"/>
            <a:ext cx="923650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6"/>
              </a:lnSpc>
            </a:pPr>
            <a:r>
              <a:rPr lang="en-US" sz="2172" u="sng" spc="65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LEI Nº 9.609/98 — REGULA PROTEÇÃO E COMERCIALIZAÇÃO DE SOFTWARE</a:t>
            </a:r>
            <a:endParaRPr lang="en-US" sz="2172" spc="65" dirty="0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471483" y="5127868"/>
            <a:ext cx="6907048" cy="55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593" spc="10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DIREITOS AUTORAIS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471483" y="5683685"/>
            <a:ext cx="923650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6"/>
              </a:lnSpc>
            </a:pPr>
            <a:r>
              <a:rPr lang="en-US" sz="2172" u="sng" spc="65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LEI Nº 9.610/98 — EQUIPARA SOFTWARE A OBRA LITERÁRIA</a:t>
            </a:r>
          </a:p>
          <a:p>
            <a:pPr algn="l">
              <a:lnSpc>
                <a:spcPts val="2606"/>
              </a:lnSpc>
            </a:pPr>
            <a:endParaRPr lang="en-US" sz="2172" spc="65" dirty="0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471483" y="6649852"/>
            <a:ext cx="6907048" cy="1102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593" spc="10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PROPRIEDADE INDUSTRIAL</a:t>
            </a:r>
          </a:p>
          <a:p>
            <a:pPr algn="l">
              <a:lnSpc>
                <a:spcPts val="4312"/>
              </a:lnSpc>
            </a:pPr>
            <a:endParaRPr lang="en-US" sz="3593" spc="107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471483" y="7205669"/>
            <a:ext cx="923650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6"/>
              </a:lnSpc>
            </a:pPr>
            <a:r>
              <a:rPr lang="en-US" sz="2172" u="sng" spc="65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LEI Nº 9.279/96 — PATENTES, MARCAS E MODELOS DE UTILIDADE</a:t>
            </a:r>
          </a:p>
          <a:p>
            <a:pPr algn="l">
              <a:lnSpc>
                <a:spcPts val="2606"/>
              </a:lnSpc>
            </a:pPr>
            <a:endParaRPr lang="en-US" sz="2172" i="1" spc="65" dirty="0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471483" y="8130188"/>
            <a:ext cx="6907048" cy="555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593" spc="10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INPI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71483" y="8686005"/>
            <a:ext cx="9236506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6"/>
              </a:lnSpc>
            </a:pPr>
            <a:r>
              <a:rPr lang="en-US" sz="2172" u="sng" spc="65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INSTITUTO NACIONAL DA PROPRIEDADE INDUSTRIAL — ÓRGÃO REGULADOR</a:t>
            </a:r>
          </a:p>
          <a:p>
            <a:pPr algn="l">
              <a:lnSpc>
                <a:spcPts val="2606"/>
              </a:lnSpc>
            </a:pPr>
            <a:endParaRPr lang="en-US" sz="2172" u="sng" spc="65" dirty="0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35" name="Freeform 35"/>
          <p:cNvSpPr/>
          <p:nvPr/>
        </p:nvSpPr>
        <p:spPr>
          <a:xfrm>
            <a:off x="1398111" y="3590877"/>
            <a:ext cx="766083" cy="766083"/>
          </a:xfrm>
          <a:custGeom>
            <a:avLst/>
            <a:gdLst/>
            <a:ahLst/>
            <a:cxnLst/>
            <a:rect l="l" t="t" r="r" b="b"/>
            <a:pathLst>
              <a:path w="766083" h="766083">
                <a:moveTo>
                  <a:pt x="0" y="0"/>
                </a:moveTo>
                <a:lnTo>
                  <a:pt x="766083" y="0"/>
                </a:lnTo>
                <a:lnTo>
                  <a:pt x="766083" y="766082"/>
                </a:lnTo>
                <a:lnTo>
                  <a:pt x="0" y="766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6" name="Freeform 36"/>
          <p:cNvSpPr/>
          <p:nvPr/>
        </p:nvSpPr>
        <p:spPr>
          <a:xfrm>
            <a:off x="1398111" y="5167243"/>
            <a:ext cx="766083" cy="766083"/>
          </a:xfrm>
          <a:custGeom>
            <a:avLst/>
            <a:gdLst/>
            <a:ahLst/>
            <a:cxnLst/>
            <a:rect l="l" t="t" r="r" b="b"/>
            <a:pathLst>
              <a:path w="766083" h="766083">
                <a:moveTo>
                  <a:pt x="0" y="0"/>
                </a:moveTo>
                <a:lnTo>
                  <a:pt x="766083" y="0"/>
                </a:lnTo>
                <a:lnTo>
                  <a:pt x="766083" y="766083"/>
                </a:lnTo>
                <a:lnTo>
                  <a:pt x="0" y="766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7" name="Freeform 37"/>
          <p:cNvSpPr/>
          <p:nvPr/>
        </p:nvSpPr>
        <p:spPr>
          <a:xfrm>
            <a:off x="1398111" y="6762396"/>
            <a:ext cx="766083" cy="766083"/>
          </a:xfrm>
          <a:custGeom>
            <a:avLst/>
            <a:gdLst/>
            <a:ahLst/>
            <a:cxnLst/>
            <a:rect l="l" t="t" r="r" b="b"/>
            <a:pathLst>
              <a:path w="766083" h="766083">
                <a:moveTo>
                  <a:pt x="0" y="0"/>
                </a:moveTo>
                <a:lnTo>
                  <a:pt x="766083" y="0"/>
                </a:lnTo>
                <a:lnTo>
                  <a:pt x="766083" y="766082"/>
                </a:lnTo>
                <a:lnTo>
                  <a:pt x="0" y="7660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8" name="Freeform 38"/>
          <p:cNvSpPr/>
          <p:nvPr/>
        </p:nvSpPr>
        <p:spPr>
          <a:xfrm>
            <a:off x="1398111" y="8242731"/>
            <a:ext cx="766083" cy="766083"/>
          </a:xfrm>
          <a:custGeom>
            <a:avLst/>
            <a:gdLst/>
            <a:ahLst/>
            <a:cxnLst/>
            <a:rect l="l" t="t" r="r" b="b"/>
            <a:pathLst>
              <a:path w="766083" h="766083">
                <a:moveTo>
                  <a:pt x="0" y="0"/>
                </a:moveTo>
                <a:lnTo>
                  <a:pt x="766083" y="0"/>
                </a:lnTo>
                <a:lnTo>
                  <a:pt x="766083" y="766083"/>
                </a:lnTo>
                <a:lnTo>
                  <a:pt x="0" y="7660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9" name="Freeform 39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3" b="-13370"/>
            </a:stretch>
          </a:blipFill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 dirty="0"/>
          </a:p>
        </p:txBody>
      </p:sp>
      <p:grpSp>
        <p:nvGrpSpPr>
          <p:cNvPr id="3" name="Group 3"/>
          <p:cNvGrpSpPr/>
          <p:nvPr/>
        </p:nvGrpSpPr>
        <p:grpSpPr>
          <a:xfrm>
            <a:off x="-3223599" y="782712"/>
            <a:ext cx="16594787" cy="1865642"/>
            <a:chOff x="0" y="0"/>
            <a:chExt cx="4370636" cy="4907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70636" cy="490704"/>
            </a:xfrm>
            <a:custGeom>
              <a:avLst/>
              <a:gdLst/>
              <a:ahLst/>
              <a:cxnLst/>
              <a:rect l="l" t="t" r="r" b="b"/>
              <a:pathLst>
                <a:path w="4370636" h="490704">
                  <a:moveTo>
                    <a:pt x="4370636" y="0"/>
                  </a:moveTo>
                  <a:lnTo>
                    <a:pt x="4370636" y="490704"/>
                  </a:lnTo>
                  <a:lnTo>
                    <a:pt x="0" y="490704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66">
                    <a:alpha val="61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370636" cy="51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907035" y="3052290"/>
            <a:ext cx="4380965" cy="3829758"/>
            <a:chOff x="0" y="0"/>
            <a:chExt cx="5841286" cy="5106345"/>
          </a:xfrm>
        </p:grpSpPr>
        <p:grpSp>
          <p:nvGrpSpPr>
            <p:cNvPr id="7" name="Group 7"/>
            <p:cNvGrpSpPr/>
            <p:nvPr/>
          </p:nvGrpSpPr>
          <p:grpSpPr>
            <a:xfrm rot="-10800000">
              <a:off x="3412394" y="2152737"/>
              <a:ext cx="2428893" cy="2082335"/>
              <a:chOff x="0" y="0"/>
              <a:chExt cx="479781" cy="41132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79781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479781" h="411325">
                    <a:moveTo>
                      <a:pt x="0" y="0"/>
                    </a:moveTo>
                    <a:lnTo>
                      <a:pt x="479781" y="0"/>
                    </a:lnTo>
                    <a:lnTo>
                      <a:pt x="479781" y="411325"/>
                    </a:lnTo>
                    <a:lnTo>
                      <a:pt x="0" y="41132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E9D81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28575"/>
                <a:ext cx="479781" cy="43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0"/>
              <a:ext cx="5484795" cy="5106345"/>
              <a:chOff x="0" y="0"/>
              <a:chExt cx="6350000" cy="59118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02" y="0"/>
                <a:ext cx="6348428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6348428" h="5911850">
                    <a:moveTo>
                      <a:pt x="1146508" y="402590"/>
                    </a:moveTo>
                    <a:lnTo>
                      <a:pt x="108918" y="2192020"/>
                    </a:lnTo>
                    <a:cubicBezTo>
                      <a:pt x="-68882" y="2498090"/>
                      <a:pt x="-25702" y="2884170"/>
                      <a:pt x="214328" y="3144520"/>
                    </a:cubicBezTo>
                    <a:lnTo>
                      <a:pt x="2525728" y="5651500"/>
                    </a:lnTo>
                    <a:cubicBezTo>
                      <a:pt x="2678128" y="5817870"/>
                      <a:pt x="2894028" y="5911850"/>
                      <a:pt x="3118818" y="5911850"/>
                    </a:cubicBezTo>
                    <a:lnTo>
                      <a:pt x="5540708" y="5911850"/>
                    </a:lnTo>
                    <a:cubicBezTo>
                      <a:pt x="5986478" y="5911850"/>
                      <a:pt x="6348428" y="5549900"/>
                      <a:pt x="6348428" y="5104130"/>
                    </a:cubicBezTo>
                    <a:lnTo>
                      <a:pt x="6348428" y="1891030"/>
                    </a:lnTo>
                    <a:cubicBezTo>
                      <a:pt x="6348428" y="1724660"/>
                      <a:pt x="6297628" y="1562100"/>
                      <a:pt x="6201108" y="1426210"/>
                    </a:cubicBezTo>
                    <a:lnTo>
                      <a:pt x="5439108" y="342900"/>
                    </a:lnTo>
                    <a:cubicBezTo>
                      <a:pt x="5287978" y="128270"/>
                      <a:pt x="5041598" y="0"/>
                      <a:pt x="4778708" y="0"/>
                    </a:cubicBezTo>
                    <a:lnTo>
                      <a:pt x="1845008" y="0"/>
                    </a:lnTo>
                    <a:cubicBezTo>
                      <a:pt x="1556718" y="0"/>
                      <a:pt x="1290018" y="153670"/>
                      <a:pt x="1146508" y="40259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9885" r="-19885"/>
                </a:stretch>
              </a:blipFill>
              <a:ln w="47625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6009669" y="8008669"/>
            <a:ext cx="1249631" cy="124963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1044" r="-11709" b="-11548"/>
              </a:stretch>
            </a:blipFill>
            <a:ln w="38100" cap="sq">
              <a:solidFill>
                <a:srgbClr val="00CC6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330508" y="1298651"/>
            <a:ext cx="11626984" cy="102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1"/>
              </a:lnSpc>
            </a:pPr>
            <a:r>
              <a:rPr lang="en-US" sz="7990" spc="-319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DIREITOS AUTORAIS EM SOFTWARE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3157585"/>
            <a:ext cx="10744209" cy="6121946"/>
            <a:chOff x="0" y="0"/>
            <a:chExt cx="14325612" cy="816259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6177425"/>
              <a:ext cx="14325612" cy="1791043"/>
              <a:chOff x="0" y="0"/>
              <a:chExt cx="1441468" cy="18021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441468" cy="180218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180218">
                    <a:moveTo>
                      <a:pt x="1441468" y="36749"/>
                    </a:moveTo>
                    <a:lnTo>
                      <a:pt x="1441468" y="143469"/>
                    </a:lnTo>
                    <a:cubicBezTo>
                      <a:pt x="1441468" y="163765"/>
                      <a:pt x="1425015" y="180218"/>
                      <a:pt x="1404719" y="180218"/>
                    </a:cubicBezTo>
                    <a:lnTo>
                      <a:pt x="36749" y="180218"/>
                    </a:lnTo>
                    <a:cubicBezTo>
                      <a:pt x="16453" y="180218"/>
                      <a:pt x="0" y="163765"/>
                      <a:pt x="0" y="143469"/>
                    </a:cubicBezTo>
                    <a:lnTo>
                      <a:pt x="0" y="36749"/>
                    </a:lnTo>
                    <a:cubicBezTo>
                      <a:pt x="0" y="16453"/>
                      <a:pt x="16453" y="0"/>
                      <a:pt x="36749" y="0"/>
                    </a:cubicBezTo>
                    <a:lnTo>
                      <a:pt x="1404719" y="0"/>
                    </a:lnTo>
                    <a:cubicBezTo>
                      <a:pt x="1425015" y="0"/>
                      <a:pt x="1441468" y="16453"/>
                      <a:pt x="1441468" y="36749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0"/>
                <a:ext cx="1441468" cy="180218"/>
              </a:xfrm>
              <a:prstGeom prst="rect">
                <a:avLst/>
              </a:prstGeom>
            </p:spPr>
            <p:txBody>
              <a:bodyPr lIns="62916" tIns="62916" rIns="62916" bIns="62916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0"/>
              <a:ext cx="14325612" cy="1791043"/>
              <a:chOff x="0" y="0"/>
              <a:chExt cx="1441468" cy="18021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441468" cy="180218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180218">
                    <a:moveTo>
                      <a:pt x="1441468" y="36749"/>
                    </a:moveTo>
                    <a:lnTo>
                      <a:pt x="1441468" y="143469"/>
                    </a:lnTo>
                    <a:cubicBezTo>
                      <a:pt x="1441468" y="163765"/>
                      <a:pt x="1425015" y="180218"/>
                      <a:pt x="1404719" y="180218"/>
                    </a:cubicBezTo>
                    <a:lnTo>
                      <a:pt x="36749" y="180218"/>
                    </a:lnTo>
                    <a:cubicBezTo>
                      <a:pt x="16453" y="180218"/>
                      <a:pt x="0" y="163765"/>
                      <a:pt x="0" y="143469"/>
                    </a:cubicBezTo>
                    <a:lnTo>
                      <a:pt x="0" y="36749"/>
                    </a:lnTo>
                    <a:cubicBezTo>
                      <a:pt x="0" y="16453"/>
                      <a:pt x="16453" y="0"/>
                      <a:pt x="36749" y="0"/>
                    </a:cubicBezTo>
                    <a:lnTo>
                      <a:pt x="1404719" y="0"/>
                    </a:lnTo>
                    <a:cubicBezTo>
                      <a:pt x="1425015" y="0"/>
                      <a:pt x="1441468" y="16453"/>
                      <a:pt x="1441468" y="36749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0"/>
                <a:ext cx="1441468" cy="180218"/>
              </a:xfrm>
              <a:prstGeom prst="rect">
                <a:avLst/>
              </a:prstGeom>
            </p:spPr>
            <p:txBody>
              <a:bodyPr lIns="62916" tIns="62916" rIns="62916" bIns="62916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0" y="2091345"/>
              <a:ext cx="14325612" cy="1791043"/>
              <a:chOff x="0" y="0"/>
              <a:chExt cx="1441468" cy="18021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1468" cy="180218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180218">
                    <a:moveTo>
                      <a:pt x="1441468" y="36749"/>
                    </a:moveTo>
                    <a:lnTo>
                      <a:pt x="1441468" y="143469"/>
                    </a:lnTo>
                    <a:cubicBezTo>
                      <a:pt x="1441468" y="163765"/>
                      <a:pt x="1425015" y="180218"/>
                      <a:pt x="1404719" y="180218"/>
                    </a:cubicBezTo>
                    <a:lnTo>
                      <a:pt x="36749" y="180218"/>
                    </a:lnTo>
                    <a:cubicBezTo>
                      <a:pt x="16453" y="180218"/>
                      <a:pt x="0" y="163765"/>
                      <a:pt x="0" y="143469"/>
                    </a:cubicBezTo>
                    <a:lnTo>
                      <a:pt x="0" y="36749"/>
                    </a:lnTo>
                    <a:cubicBezTo>
                      <a:pt x="0" y="16453"/>
                      <a:pt x="16453" y="0"/>
                      <a:pt x="36749" y="0"/>
                    </a:cubicBezTo>
                    <a:lnTo>
                      <a:pt x="1404719" y="0"/>
                    </a:lnTo>
                    <a:cubicBezTo>
                      <a:pt x="1425015" y="0"/>
                      <a:pt x="1441468" y="16453"/>
                      <a:pt x="1441468" y="36749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0"/>
                <a:ext cx="1441468" cy="180218"/>
              </a:xfrm>
              <a:prstGeom prst="rect">
                <a:avLst/>
              </a:prstGeom>
            </p:spPr>
            <p:txBody>
              <a:bodyPr lIns="62916" tIns="62916" rIns="62916" bIns="62916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4203644"/>
              <a:ext cx="14325612" cy="1791043"/>
              <a:chOff x="0" y="0"/>
              <a:chExt cx="1441468" cy="18021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1468" cy="180218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180218">
                    <a:moveTo>
                      <a:pt x="1441468" y="36749"/>
                    </a:moveTo>
                    <a:lnTo>
                      <a:pt x="1441468" y="143469"/>
                    </a:lnTo>
                    <a:cubicBezTo>
                      <a:pt x="1441468" y="163765"/>
                      <a:pt x="1425015" y="180218"/>
                      <a:pt x="1404719" y="180218"/>
                    </a:cubicBezTo>
                    <a:lnTo>
                      <a:pt x="36749" y="180218"/>
                    </a:lnTo>
                    <a:cubicBezTo>
                      <a:pt x="16453" y="180218"/>
                      <a:pt x="0" y="163765"/>
                      <a:pt x="0" y="143469"/>
                    </a:cubicBezTo>
                    <a:lnTo>
                      <a:pt x="0" y="36749"/>
                    </a:lnTo>
                    <a:cubicBezTo>
                      <a:pt x="0" y="16453"/>
                      <a:pt x="16453" y="0"/>
                      <a:pt x="36749" y="0"/>
                    </a:cubicBezTo>
                    <a:lnTo>
                      <a:pt x="1404719" y="0"/>
                    </a:lnTo>
                    <a:cubicBezTo>
                      <a:pt x="1425015" y="0"/>
                      <a:pt x="1441468" y="16453"/>
                      <a:pt x="1441468" y="36749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0"/>
                <a:ext cx="1441468" cy="180218"/>
              </a:xfrm>
              <a:prstGeom prst="rect">
                <a:avLst/>
              </a:prstGeom>
            </p:spPr>
            <p:txBody>
              <a:bodyPr lIns="62916" tIns="62916" rIns="62916" bIns="62916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10271" y="1092644"/>
              <a:ext cx="12315341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6"/>
                </a:lnSpc>
              </a:pPr>
              <a:r>
                <a:rPr lang="en-US" sz="2172" spc="65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SOFTWARE EQUIPARADO A CRIAÇÃO LITERÁRIA PELA LEI</a:t>
              </a:r>
            </a:p>
            <a:p>
              <a:pPr algn="l">
                <a:lnSpc>
                  <a:spcPts val="2606"/>
                </a:lnSpc>
              </a:pPr>
              <a:endParaRPr lang="en-US" sz="2172" spc="65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23710" y="2437296"/>
              <a:ext cx="9209397" cy="1466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2"/>
                </a:lnSpc>
              </a:pPr>
              <a:r>
                <a:rPr lang="en-US" sz="3593" spc="107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O QUE PROTEGE</a:t>
              </a:r>
            </a:p>
            <a:p>
              <a:pPr algn="l">
                <a:lnSpc>
                  <a:spcPts val="4312"/>
                </a:lnSpc>
              </a:pPr>
              <a:endParaRPr lang="en-US" sz="3593" spc="10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23711" y="3175210"/>
              <a:ext cx="12315341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6"/>
                </a:lnSpc>
              </a:pPr>
              <a:r>
                <a:rPr lang="en-US" sz="2172" spc="65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CÓDIGO-FONTE E CÓDIGO-OBJETO — A EXPRESSÃO DO SOFTWARE</a:t>
              </a:r>
            </a:p>
            <a:p>
              <a:pPr algn="l">
                <a:lnSpc>
                  <a:spcPts val="2606"/>
                </a:lnSpc>
              </a:pPr>
              <a:endParaRPr lang="en-US" sz="2172" spc="65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23710" y="4466609"/>
              <a:ext cx="9209397" cy="737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2"/>
                </a:lnSpc>
              </a:pPr>
              <a:r>
                <a:rPr lang="en-US" sz="3593" spc="107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AUTOMÁTICO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23711" y="5204524"/>
              <a:ext cx="12315341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6"/>
                </a:lnSpc>
              </a:pPr>
              <a:r>
                <a:rPr lang="en-US" sz="2172" spc="65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PROTEÇÃO NASCE COM A CRIAÇÃO, SEM NECESSIDADE DE REGISTRO</a:t>
              </a:r>
            </a:p>
            <a:p>
              <a:pPr algn="l">
                <a:lnSpc>
                  <a:spcPts val="2606"/>
                </a:lnSpc>
              </a:pPr>
              <a:endParaRPr lang="en-US" sz="2172" spc="65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  <p:sp>
          <p:nvSpPr>
            <p:cNvPr id="33" name="Freeform 33"/>
            <p:cNvSpPr/>
            <p:nvPr/>
          </p:nvSpPr>
          <p:spPr>
            <a:xfrm>
              <a:off x="492548" y="384800"/>
              <a:ext cx="1021443" cy="1021443"/>
            </a:xfrm>
            <a:custGeom>
              <a:avLst/>
              <a:gdLst/>
              <a:ahLst/>
              <a:cxnLst/>
              <a:rect l="l" t="t" r="r" b="b"/>
              <a:pathLst>
                <a:path w="1021443" h="1021443">
                  <a:moveTo>
                    <a:pt x="0" y="0"/>
                  </a:moveTo>
                  <a:lnTo>
                    <a:pt x="1021444" y="0"/>
                  </a:lnTo>
                  <a:lnTo>
                    <a:pt x="1021444" y="1021443"/>
                  </a:lnTo>
                  <a:lnTo>
                    <a:pt x="0" y="1021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492548" y="2486622"/>
              <a:ext cx="1021443" cy="1021443"/>
            </a:xfrm>
            <a:custGeom>
              <a:avLst/>
              <a:gdLst/>
              <a:ahLst/>
              <a:cxnLst/>
              <a:rect l="l" t="t" r="r" b="b"/>
              <a:pathLst>
                <a:path w="1021443" h="1021443">
                  <a:moveTo>
                    <a:pt x="0" y="0"/>
                  </a:moveTo>
                  <a:lnTo>
                    <a:pt x="1021444" y="0"/>
                  </a:lnTo>
                  <a:lnTo>
                    <a:pt x="1021444" y="1021443"/>
                  </a:lnTo>
                  <a:lnTo>
                    <a:pt x="0" y="1021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492548" y="4613492"/>
              <a:ext cx="1021443" cy="1021443"/>
            </a:xfrm>
            <a:custGeom>
              <a:avLst/>
              <a:gdLst/>
              <a:ahLst/>
              <a:cxnLst/>
              <a:rect l="l" t="t" r="r" b="b"/>
              <a:pathLst>
                <a:path w="1021443" h="1021443">
                  <a:moveTo>
                    <a:pt x="0" y="0"/>
                  </a:moveTo>
                  <a:lnTo>
                    <a:pt x="1021444" y="0"/>
                  </a:lnTo>
                  <a:lnTo>
                    <a:pt x="1021444" y="1021443"/>
                  </a:lnTo>
                  <a:lnTo>
                    <a:pt x="0" y="1021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23710" y="6535548"/>
              <a:ext cx="9209397" cy="1466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2"/>
                </a:lnSpc>
              </a:pPr>
              <a:r>
                <a:rPr lang="en-US" sz="3593" spc="107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50 ANOS</a:t>
              </a:r>
            </a:p>
            <a:p>
              <a:pPr algn="l">
                <a:lnSpc>
                  <a:spcPts val="4312"/>
                </a:lnSpc>
              </a:pPr>
              <a:endParaRPr lang="en-US" sz="3593" spc="107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23711" y="7273462"/>
              <a:ext cx="12315341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6"/>
                </a:lnSpc>
              </a:pPr>
              <a:r>
                <a:rPr lang="en-US" sz="2172" spc="65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PRAZO DE PROTEÇÃO A PARTIR DE 1º DE JANEIRO DO ANO SEGUINTE À PUBLICAÇÃO</a:t>
              </a:r>
            </a:p>
            <a:p>
              <a:pPr algn="l">
                <a:lnSpc>
                  <a:spcPts val="2606"/>
                </a:lnSpc>
              </a:pPr>
              <a:endParaRPr lang="en-US" sz="2172" spc="65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  <p:sp>
          <p:nvSpPr>
            <p:cNvPr id="38" name="Freeform 38"/>
            <p:cNvSpPr/>
            <p:nvPr/>
          </p:nvSpPr>
          <p:spPr>
            <a:xfrm>
              <a:off x="492548" y="6562225"/>
              <a:ext cx="1021443" cy="1021443"/>
            </a:xfrm>
            <a:custGeom>
              <a:avLst/>
              <a:gdLst/>
              <a:ahLst/>
              <a:cxnLst/>
              <a:rect l="l" t="t" r="r" b="b"/>
              <a:pathLst>
                <a:path w="1021443" h="1021443">
                  <a:moveTo>
                    <a:pt x="0" y="0"/>
                  </a:moveTo>
                  <a:lnTo>
                    <a:pt x="1021444" y="0"/>
                  </a:lnTo>
                  <a:lnTo>
                    <a:pt x="1021444" y="1021443"/>
                  </a:lnTo>
                  <a:lnTo>
                    <a:pt x="0" y="1021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010271" y="354729"/>
              <a:ext cx="9209397" cy="737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2"/>
                </a:lnSpc>
              </a:pPr>
              <a:r>
                <a:rPr lang="en-US" sz="3593" spc="107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OBRA LITERÁRIA</a:t>
              </a:r>
            </a:p>
          </p:txBody>
        </p:sp>
      </p:grpSp>
      <p:sp>
        <p:nvSpPr>
          <p:cNvPr id="40" name="Freeform 40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83" b="-13370"/>
            </a:stretch>
          </a:blipFill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541122" y="734427"/>
            <a:ext cx="25444611" cy="1880912"/>
            <a:chOff x="0" y="0"/>
            <a:chExt cx="6701461" cy="4953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01461" cy="495384"/>
            </a:xfrm>
            <a:custGeom>
              <a:avLst/>
              <a:gdLst/>
              <a:ahLst/>
              <a:cxnLst/>
              <a:rect l="l" t="t" r="r" b="b"/>
              <a:pathLst>
                <a:path w="6701461" h="495384">
                  <a:moveTo>
                    <a:pt x="0" y="0"/>
                  </a:moveTo>
                  <a:lnTo>
                    <a:pt x="6701461" y="0"/>
                  </a:lnTo>
                  <a:lnTo>
                    <a:pt x="6701461" y="495384"/>
                  </a:lnTo>
                  <a:lnTo>
                    <a:pt x="0" y="495384"/>
                  </a:lnTo>
                  <a:close/>
                </a:path>
              </a:pathLst>
            </a:custGeom>
            <a:gradFill rotWithShape="1">
              <a:gsLst>
                <a:gs pos="0">
                  <a:srgbClr val="00CC66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701461" cy="523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09669" y="8008669"/>
            <a:ext cx="1249631" cy="12496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1044" r="-11709" b="-11548"/>
              </a:stretch>
            </a:blipFill>
            <a:ln w="38100" cap="sq">
              <a:solidFill>
                <a:srgbClr val="00CC6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907035" y="3052290"/>
            <a:ext cx="4380965" cy="3829758"/>
            <a:chOff x="0" y="0"/>
            <a:chExt cx="5841286" cy="5106345"/>
          </a:xfrm>
        </p:grpSpPr>
        <p:grpSp>
          <p:nvGrpSpPr>
            <p:cNvPr id="9" name="Group 9"/>
            <p:cNvGrpSpPr/>
            <p:nvPr/>
          </p:nvGrpSpPr>
          <p:grpSpPr>
            <a:xfrm rot="-10800000">
              <a:off x="3412394" y="2152737"/>
              <a:ext cx="2428893" cy="2082335"/>
              <a:chOff x="0" y="0"/>
              <a:chExt cx="479781" cy="411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79781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479781" h="411325">
                    <a:moveTo>
                      <a:pt x="0" y="0"/>
                    </a:moveTo>
                    <a:lnTo>
                      <a:pt x="479781" y="0"/>
                    </a:lnTo>
                    <a:lnTo>
                      <a:pt x="479781" y="411325"/>
                    </a:lnTo>
                    <a:lnTo>
                      <a:pt x="0" y="41132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E9D81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479781" cy="43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5484795" cy="5106345"/>
              <a:chOff x="0" y="0"/>
              <a:chExt cx="6350000" cy="59118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02" y="0"/>
                <a:ext cx="6348428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6348428" h="5911850">
                    <a:moveTo>
                      <a:pt x="1146508" y="402590"/>
                    </a:moveTo>
                    <a:lnTo>
                      <a:pt x="108918" y="2192020"/>
                    </a:lnTo>
                    <a:cubicBezTo>
                      <a:pt x="-68882" y="2498090"/>
                      <a:pt x="-25702" y="2884170"/>
                      <a:pt x="214328" y="3144520"/>
                    </a:cubicBezTo>
                    <a:lnTo>
                      <a:pt x="2525728" y="5651500"/>
                    </a:lnTo>
                    <a:cubicBezTo>
                      <a:pt x="2678128" y="5817870"/>
                      <a:pt x="2894028" y="5911850"/>
                      <a:pt x="3118818" y="5911850"/>
                    </a:cubicBezTo>
                    <a:lnTo>
                      <a:pt x="5540708" y="5911850"/>
                    </a:lnTo>
                    <a:cubicBezTo>
                      <a:pt x="5986478" y="5911850"/>
                      <a:pt x="6348428" y="5549900"/>
                      <a:pt x="6348428" y="5104130"/>
                    </a:cubicBezTo>
                    <a:lnTo>
                      <a:pt x="6348428" y="1891030"/>
                    </a:lnTo>
                    <a:cubicBezTo>
                      <a:pt x="6348428" y="1724660"/>
                      <a:pt x="6297628" y="1562100"/>
                      <a:pt x="6201108" y="1426210"/>
                    </a:cubicBezTo>
                    <a:lnTo>
                      <a:pt x="5439108" y="342900"/>
                    </a:lnTo>
                    <a:cubicBezTo>
                      <a:pt x="5287978" y="128270"/>
                      <a:pt x="5041598" y="0"/>
                      <a:pt x="4778708" y="0"/>
                    </a:cubicBezTo>
                    <a:lnTo>
                      <a:pt x="1845008" y="0"/>
                    </a:lnTo>
                    <a:cubicBezTo>
                      <a:pt x="1556718" y="0"/>
                      <a:pt x="1290018" y="153670"/>
                      <a:pt x="1146508" y="40259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30465" b="-30465"/>
                </a:stretch>
              </a:blipFill>
              <a:ln w="47625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4" name="Freeform 14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3" b="-133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TextBox 15"/>
          <p:cNvSpPr txBox="1"/>
          <p:nvPr/>
        </p:nvSpPr>
        <p:spPr>
          <a:xfrm>
            <a:off x="1549310" y="1274490"/>
            <a:ext cx="15709990" cy="972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5"/>
              </a:lnSpc>
            </a:pPr>
            <a:r>
              <a:rPr lang="en-US" sz="7521" spc="-300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DIREITOS AUTORAIS </a:t>
            </a:r>
            <a:r>
              <a:rPr lang="en-US" sz="7521" spc="-300" dirty="0">
                <a:solidFill>
                  <a:srgbClr val="00B14F"/>
                </a:solidFill>
                <a:latin typeface="Anton Italics"/>
                <a:ea typeface="Anton Italics"/>
                <a:cs typeface="Anton Italics"/>
                <a:sym typeface="Anton Italics"/>
              </a:rPr>
              <a:t>X</a:t>
            </a:r>
            <a:r>
              <a:rPr lang="en-US" sz="7521" spc="-300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 PROPRIEDADE INTELECTUAL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7437" y="3689187"/>
            <a:ext cx="11333096" cy="392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5050"/>
              </a:lnSpc>
              <a:buFont typeface="Arial"/>
              <a:buChar char="•"/>
            </a:pPr>
            <a:r>
              <a:rPr lang="en-US" sz="5000" spc="-475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rial Nova Italics"/>
                <a:ea typeface="Arial Nova Italics"/>
                <a:cs typeface="Arial Nova Italics"/>
                <a:sym typeface="Arial Nova Italics"/>
              </a:rPr>
              <a:t>DIREITOS AUTORAIS:</a:t>
            </a:r>
            <a:r>
              <a:rPr lang="en-US" sz="5000" spc="-475" dirty="0">
                <a:solidFill>
                  <a:srgbClr val="FFFFFF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 PROTEGEM COMO O SOFTWARE É ESCRITO</a:t>
            </a:r>
          </a:p>
          <a:p>
            <a:pPr algn="l">
              <a:lnSpc>
                <a:spcPts val="5050"/>
              </a:lnSpc>
            </a:pPr>
            <a:endParaRPr lang="en-US" sz="5000" spc="-475" dirty="0">
              <a:solidFill>
                <a:srgbClr val="FFFFFF"/>
              </a:solidFill>
              <a:latin typeface="Arial Nova Italics"/>
              <a:ea typeface="Arial Nova Italics"/>
              <a:cs typeface="Arial Nova Italics"/>
              <a:sym typeface="Arial Nova Italics"/>
            </a:endParaRPr>
          </a:p>
          <a:p>
            <a:pPr marL="1079501" lvl="1" indent="-539750" algn="l">
              <a:lnSpc>
                <a:spcPts val="5050"/>
              </a:lnSpc>
              <a:buFont typeface="Arial"/>
              <a:buChar char="•"/>
            </a:pPr>
            <a:r>
              <a:rPr lang="en-US" sz="5000" spc="-475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rial Nova Italics"/>
                <a:ea typeface="Arial Nova Italics"/>
                <a:cs typeface="Arial Nova Italics"/>
                <a:sym typeface="Arial Nova Italics"/>
              </a:rPr>
              <a:t>PROPRIEDADE INDUSTRIAL:</a:t>
            </a:r>
            <a:r>
              <a:rPr lang="en-US" sz="5000" spc="-475" dirty="0">
                <a:solidFill>
                  <a:srgbClr val="FFFFFF"/>
                </a:solidFill>
                <a:latin typeface="Arial Nova Italics"/>
                <a:ea typeface="Arial Nova Italics"/>
                <a:cs typeface="Arial Nova Italics"/>
                <a:sym typeface="Arial Nova Italics"/>
              </a:rPr>
              <a:t> PODE PROTEGER SOLUÇÕES TÉCNICAS ASSOCIADAS, QUANDO APLICÁVEL.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50867" y="7852909"/>
            <a:ext cx="12068042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1"/>
              </a:lnSpc>
            </a:pPr>
            <a:r>
              <a:rPr lang="en-US" sz="3751" spc="112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 Italics"/>
                <a:ea typeface="Anton Italics"/>
                <a:cs typeface="Anton Italics"/>
                <a:sym typeface="Anton Italics"/>
              </a:rPr>
              <a:t>A PRINCIPAL DISTINÇÃO ESTÁ NA NATUREZA DA PROTEÇÃO: </a:t>
            </a:r>
          </a:p>
          <a:p>
            <a:pPr algn="l">
              <a:lnSpc>
                <a:spcPts val="4501"/>
              </a:lnSpc>
            </a:pPr>
            <a:r>
              <a:rPr lang="en-US" sz="3751" spc="112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 Italics"/>
                <a:ea typeface="Anton Italics"/>
                <a:cs typeface="Anton Italics"/>
                <a:sym typeface="Anton Italics"/>
              </a:rPr>
              <a:t>A EXPRESSÃO CRIATIVA </a:t>
            </a:r>
            <a:r>
              <a:rPr lang="en-US" sz="3751" spc="112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X</a:t>
            </a:r>
            <a:r>
              <a:rPr lang="en-US" sz="3751" spc="112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 Italics"/>
                <a:ea typeface="Anton Italics"/>
                <a:cs typeface="Anton Italics"/>
                <a:sym typeface="Anton Italics"/>
              </a:rPr>
              <a:t> A SOLUÇÃO TÉCNICA INOVADORA.</a:t>
            </a:r>
          </a:p>
          <a:p>
            <a:pPr algn="l">
              <a:lnSpc>
                <a:spcPts val="4501"/>
              </a:lnSpc>
            </a:pPr>
            <a:endParaRPr lang="en-US" sz="3751" i="1" spc="112" dirty="0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09669" y="8008669"/>
            <a:ext cx="1249631" cy="12496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1044" r="-11709" b="-11548"/>
              </a:stretch>
            </a:blipFill>
            <a:ln w="38100" cap="sq">
              <a:solidFill>
                <a:srgbClr val="00CC6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" b="-13370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-3223599" y="782712"/>
            <a:ext cx="16594787" cy="1865642"/>
            <a:chOff x="0" y="0"/>
            <a:chExt cx="4370636" cy="4907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0636" cy="490704"/>
            </a:xfrm>
            <a:custGeom>
              <a:avLst/>
              <a:gdLst/>
              <a:ahLst/>
              <a:cxnLst/>
              <a:rect l="l" t="t" r="r" b="b"/>
              <a:pathLst>
                <a:path w="4370636" h="490704">
                  <a:moveTo>
                    <a:pt x="4370636" y="0"/>
                  </a:moveTo>
                  <a:lnTo>
                    <a:pt x="4370636" y="490704"/>
                  </a:lnTo>
                  <a:lnTo>
                    <a:pt x="0" y="490704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66">
                    <a:alpha val="61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370636" cy="51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993934"/>
            <a:ext cx="8666689" cy="1083543"/>
            <a:chOff x="0" y="0"/>
            <a:chExt cx="1441468" cy="1802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45558"/>
                  </a:moveTo>
                  <a:lnTo>
                    <a:pt x="1441468" y="134660"/>
                  </a:lnTo>
                  <a:cubicBezTo>
                    <a:pt x="1441468" y="146742"/>
                    <a:pt x="1436669" y="158330"/>
                    <a:pt x="1428125" y="166874"/>
                  </a:cubicBezTo>
                  <a:cubicBezTo>
                    <a:pt x="1419581" y="175418"/>
                    <a:pt x="1407993" y="180218"/>
                    <a:pt x="1395910" y="180218"/>
                  </a:cubicBezTo>
                  <a:lnTo>
                    <a:pt x="45558" y="180218"/>
                  </a:lnTo>
                  <a:cubicBezTo>
                    <a:pt x="33475" y="180218"/>
                    <a:pt x="21887" y="175418"/>
                    <a:pt x="13344" y="166874"/>
                  </a:cubicBezTo>
                  <a:cubicBezTo>
                    <a:pt x="4800" y="158330"/>
                    <a:pt x="0" y="146742"/>
                    <a:pt x="0" y="134660"/>
                  </a:cubicBezTo>
                  <a:lnTo>
                    <a:pt x="0" y="45558"/>
                  </a:lnTo>
                  <a:cubicBezTo>
                    <a:pt x="0" y="33475"/>
                    <a:pt x="4800" y="21887"/>
                    <a:pt x="13344" y="13344"/>
                  </a:cubicBezTo>
                  <a:cubicBezTo>
                    <a:pt x="21887" y="4800"/>
                    <a:pt x="33475" y="0"/>
                    <a:pt x="45558" y="0"/>
                  </a:cubicBezTo>
                  <a:lnTo>
                    <a:pt x="1395910" y="0"/>
                  </a:lnTo>
                  <a:cubicBezTo>
                    <a:pt x="1421071" y="0"/>
                    <a:pt x="1441468" y="20397"/>
                    <a:pt x="1441468" y="45558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50750" tIns="50750" rIns="50750" bIns="5075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271830"/>
            <a:ext cx="8666689" cy="1083543"/>
            <a:chOff x="0" y="0"/>
            <a:chExt cx="1441468" cy="1802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45558"/>
                  </a:moveTo>
                  <a:lnTo>
                    <a:pt x="1441468" y="134660"/>
                  </a:lnTo>
                  <a:cubicBezTo>
                    <a:pt x="1441468" y="146742"/>
                    <a:pt x="1436669" y="158330"/>
                    <a:pt x="1428125" y="166874"/>
                  </a:cubicBezTo>
                  <a:cubicBezTo>
                    <a:pt x="1419581" y="175418"/>
                    <a:pt x="1407993" y="180218"/>
                    <a:pt x="1395910" y="180218"/>
                  </a:cubicBezTo>
                  <a:lnTo>
                    <a:pt x="45558" y="180218"/>
                  </a:lnTo>
                  <a:cubicBezTo>
                    <a:pt x="33475" y="180218"/>
                    <a:pt x="21887" y="175418"/>
                    <a:pt x="13344" y="166874"/>
                  </a:cubicBezTo>
                  <a:cubicBezTo>
                    <a:pt x="4800" y="158330"/>
                    <a:pt x="0" y="146742"/>
                    <a:pt x="0" y="134660"/>
                  </a:cubicBezTo>
                  <a:lnTo>
                    <a:pt x="0" y="45558"/>
                  </a:lnTo>
                  <a:cubicBezTo>
                    <a:pt x="0" y="33475"/>
                    <a:pt x="4800" y="21887"/>
                    <a:pt x="13344" y="13344"/>
                  </a:cubicBezTo>
                  <a:cubicBezTo>
                    <a:pt x="21887" y="4800"/>
                    <a:pt x="33475" y="0"/>
                    <a:pt x="45558" y="0"/>
                  </a:cubicBezTo>
                  <a:lnTo>
                    <a:pt x="1395910" y="0"/>
                  </a:lnTo>
                  <a:cubicBezTo>
                    <a:pt x="1421071" y="0"/>
                    <a:pt x="1441468" y="20397"/>
                    <a:pt x="1441468" y="45558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50750" tIns="50750" rIns="50750" bIns="5075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6549726"/>
            <a:ext cx="8666689" cy="1083543"/>
            <a:chOff x="0" y="0"/>
            <a:chExt cx="1441468" cy="1802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45558"/>
                  </a:moveTo>
                  <a:lnTo>
                    <a:pt x="1441468" y="134660"/>
                  </a:lnTo>
                  <a:cubicBezTo>
                    <a:pt x="1441468" y="146742"/>
                    <a:pt x="1436669" y="158330"/>
                    <a:pt x="1428125" y="166874"/>
                  </a:cubicBezTo>
                  <a:cubicBezTo>
                    <a:pt x="1419581" y="175418"/>
                    <a:pt x="1407993" y="180218"/>
                    <a:pt x="1395910" y="180218"/>
                  </a:cubicBezTo>
                  <a:lnTo>
                    <a:pt x="45558" y="180218"/>
                  </a:lnTo>
                  <a:cubicBezTo>
                    <a:pt x="33475" y="180218"/>
                    <a:pt x="21887" y="175418"/>
                    <a:pt x="13344" y="166874"/>
                  </a:cubicBezTo>
                  <a:cubicBezTo>
                    <a:pt x="4800" y="158330"/>
                    <a:pt x="0" y="146742"/>
                    <a:pt x="0" y="134660"/>
                  </a:cubicBezTo>
                  <a:lnTo>
                    <a:pt x="0" y="45558"/>
                  </a:lnTo>
                  <a:cubicBezTo>
                    <a:pt x="0" y="33475"/>
                    <a:pt x="4800" y="21887"/>
                    <a:pt x="13344" y="13344"/>
                  </a:cubicBezTo>
                  <a:cubicBezTo>
                    <a:pt x="21887" y="4800"/>
                    <a:pt x="33475" y="0"/>
                    <a:pt x="45558" y="0"/>
                  </a:cubicBezTo>
                  <a:lnTo>
                    <a:pt x="1395910" y="0"/>
                  </a:lnTo>
                  <a:cubicBezTo>
                    <a:pt x="1421071" y="0"/>
                    <a:pt x="1441468" y="20397"/>
                    <a:pt x="1441468" y="45558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50750" tIns="50750" rIns="50750" bIns="5075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92484" y="5550885"/>
            <a:ext cx="525433" cy="525433"/>
          </a:xfrm>
          <a:custGeom>
            <a:avLst/>
            <a:gdLst/>
            <a:ahLst/>
            <a:cxnLst/>
            <a:rect l="l" t="t" r="r" b="b"/>
            <a:pathLst>
              <a:path w="525433" h="525433">
                <a:moveTo>
                  <a:pt x="0" y="0"/>
                </a:moveTo>
                <a:lnTo>
                  <a:pt x="525433" y="0"/>
                </a:lnTo>
                <a:lnTo>
                  <a:pt x="525433" y="525433"/>
                </a:lnTo>
                <a:lnTo>
                  <a:pt x="0" y="525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8" name="Freeform 18"/>
          <p:cNvSpPr/>
          <p:nvPr/>
        </p:nvSpPr>
        <p:spPr>
          <a:xfrm>
            <a:off x="1408774" y="4279672"/>
            <a:ext cx="525433" cy="525433"/>
          </a:xfrm>
          <a:custGeom>
            <a:avLst/>
            <a:gdLst/>
            <a:ahLst/>
            <a:cxnLst/>
            <a:rect l="l" t="t" r="r" b="b"/>
            <a:pathLst>
              <a:path w="525433" h="525433">
                <a:moveTo>
                  <a:pt x="0" y="0"/>
                </a:moveTo>
                <a:lnTo>
                  <a:pt x="525433" y="0"/>
                </a:lnTo>
                <a:lnTo>
                  <a:pt x="525433" y="525433"/>
                </a:lnTo>
                <a:lnTo>
                  <a:pt x="0" y="5254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Freeform 19"/>
          <p:cNvSpPr/>
          <p:nvPr/>
        </p:nvSpPr>
        <p:spPr>
          <a:xfrm>
            <a:off x="1392484" y="6831622"/>
            <a:ext cx="525433" cy="525433"/>
          </a:xfrm>
          <a:custGeom>
            <a:avLst/>
            <a:gdLst/>
            <a:ahLst/>
            <a:cxnLst/>
            <a:rect l="l" t="t" r="r" b="b"/>
            <a:pathLst>
              <a:path w="525433" h="525433">
                <a:moveTo>
                  <a:pt x="0" y="0"/>
                </a:moveTo>
                <a:lnTo>
                  <a:pt x="525433" y="0"/>
                </a:lnTo>
                <a:lnTo>
                  <a:pt x="525433" y="525434"/>
                </a:lnTo>
                <a:lnTo>
                  <a:pt x="0" y="5254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0" name="Freeform 20"/>
          <p:cNvSpPr/>
          <p:nvPr/>
        </p:nvSpPr>
        <p:spPr>
          <a:xfrm>
            <a:off x="1028700" y="8153063"/>
            <a:ext cx="803350" cy="822894"/>
          </a:xfrm>
          <a:custGeom>
            <a:avLst/>
            <a:gdLst/>
            <a:ahLst/>
            <a:cxnLst/>
            <a:rect l="l" t="t" r="r" b="b"/>
            <a:pathLst>
              <a:path w="803350" h="822894">
                <a:moveTo>
                  <a:pt x="0" y="0"/>
                </a:moveTo>
                <a:lnTo>
                  <a:pt x="803350" y="0"/>
                </a:lnTo>
                <a:lnTo>
                  <a:pt x="803350" y="822894"/>
                </a:lnTo>
                <a:lnTo>
                  <a:pt x="0" y="8228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1" name="Group 21"/>
          <p:cNvGrpSpPr/>
          <p:nvPr/>
        </p:nvGrpSpPr>
        <p:grpSpPr>
          <a:xfrm>
            <a:off x="12480111" y="2789955"/>
            <a:ext cx="5807889" cy="4559133"/>
            <a:chOff x="0" y="0"/>
            <a:chExt cx="7743852" cy="6078844"/>
          </a:xfrm>
        </p:grpSpPr>
        <p:grpSp>
          <p:nvGrpSpPr>
            <p:cNvPr id="22" name="Group 22"/>
            <p:cNvGrpSpPr/>
            <p:nvPr/>
          </p:nvGrpSpPr>
          <p:grpSpPr>
            <a:xfrm rot="-10800000">
              <a:off x="4523845" y="2562724"/>
              <a:ext cx="3220008" cy="2478914"/>
              <a:chOff x="0" y="0"/>
              <a:chExt cx="534295" cy="4113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34295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534295" h="411325">
                    <a:moveTo>
                      <a:pt x="0" y="0"/>
                    </a:moveTo>
                    <a:lnTo>
                      <a:pt x="534295" y="0"/>
                    </a:lnTo>
                    <a:lnTo>
                      <a:pt x="534295" y="411325"/>
                    </a:lnTo>
                    <a:lnTo>
                      <a:pt x="0" y="41132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E9D81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28575"/>
                <a:ext cx="534295" cy="43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0"/>
              <a:ext cx="7271249" cy="6078844"/>
              <a:chOff x="0" y="0"/>
              <a:chExt cx="7071498" cy="59118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530" y="0"/>
                <a:ext cx="7065554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7065554" h="5911850">
                    <a:moveTo>
                      <a:pt x="1272583" y="402590"/>
                    </a:moveTo>
                    <a:lnTo>
                      <a:pt x="117100" y="2192020"/>
                    </a:lnTo>
                    <a:cubicBezTo>
                      <a:pt x="-73110" y="2498090"/>
                      <a:pt x="-29930" y="2884170"/>
                      <a:pt x="234487" y="3144520"/>
                    </a:cubicBezTo>
                    <a:lnTo>
                      <a:pt x="2808512" y="5651500"/>
                    </a:lnTo>
                    <a:cubicBezTo>
                      <a:pt x="2978228" y="5817870"/>
                      <a:pt x="3218659" y="5911850"/>
                      <a:pt x="3468990" y="5911850"/>
                    </a:cubicBezTo>
                    <a:lnTo>
                      <a:pt x="6166059" y="5911850"/>
                    </a:lnTo>
                    <a:cubicBezTo>
                      <a:pt x="6662479" y="5911850"/>
                      <a:pt x="7065554" y="5549900"/>
                      <a:pt x="7065554" y="5104130"/>
                    </a:cubicBezTo>
                    <a:lnTo>
                      <a:pt x="7065554" y="1891030"/>
                    </a:lnTo>
                    <a:cubicBezTo>
                      <a:pt x="7065554" y="1724660"/>
                      <a:pt x="7008982" y="1562100"/>
                      <a:pt x="6901495" y="1426210"/>
                    </a:cubicBezTo>
                    <a:lnTo>
                      <a:pt x="6052915" y="342900"/>
                    </a:lnTo>
                    <a:cubicBezTo>
                      <a:pt x="5884614" y="128270"/>
                      <a:pt x="5610240" y="0"/>
                      <a:pt x="5317479" y="0"/>
                    </a:cubicBezTo>
                    <a:lnTo>
                      <a:pt x="2050447" y="0"/>
                    </a:lnTo>
                    <a:cubicBezTo>
                      <a:pt x="1729401" y="0"/>
                      <a:pt x="1432398" y="153670"/>
                      <a:pt x="1272583" y="40259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r="-11561"/>
                </a:stretch>
              </a:blipFill>
              <a:ln w="47625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2244871" y="4230964"/>
            <a:ext cx="5571488" cy="131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2898" spc="-57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PROVA DE AUTORIA E ANTERIORIDADE EM CASO DE DISPUTA</a:t>
            </a:r>
          </a:p>
          <a:p>
            <a:pPr algn="l">
              <a:lnSpc>
                <a:spcPts val="3478"/>
              </a:lnSpc>
            </a:pPr>
            <a:endParaRPr lang="en-US" sz="2898" i="1" spc="-57" dirty="0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44871" y="5497809"/>
            <a:ext cx="5571488" cy="131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2898" spc="-57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SEGURANÇA JURÍDICA EM PROCESSOS DE LICENCIAMENTO</a:t>
            </a:r>
          </a:p>
          <a:p>
            <a:pPr algn="l">
              <a:lnSpc>
                <a:spcPts val="3478"/>
              </a:lnSpc>
            </a:pPr>
            <a:endParaRPr lang="en-US" sz="2898" i="1" spc="-57" dirty="0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244871" y="6688747"/>
            <a:ext cx="5571488" cy="131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2898" spc="-57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FACILITA COMERCIALIZAÇÃO E ATRAÇÃO DE INVESTIDORES</a:t>
            </a:r>
          </a:p>
          <a:p>
            <a:pPr algn="l">
              <a:lnSpc>
                <a:spcPts val="3478"/>
              </a:lnSpc>
            </a:pPr>
            <a:endParaRPr lang="en-US" sz="2898" i="1" spc="-57" dirty="0">
              <a:solidFill>
                <a:srgbClr val="FFFFFF"/>
              </a:solidFill>
              <a:latin typeface="Anton Italics"/>
              <a:ea typeface="Anton Italics"/>
              <a:cs typeface="Anton Italics"/>
              <a:sym typeface="Anton Italic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151158" y="1298651"/>
            <a:ext cx="5985685" cy="102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1"/>
              </a:lnSpc>
            </a:pPr>
            <a:r>
              <a:rPr lang="en-US" sz="7990" spc="-319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REGISTRO</a:t>
            </a:r>
            <a:r>
              <a:rPr lang="en-US" sz="7990" i="1" spc="-319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 </a:t>
            </a:r>
            <a:r>
              <a:rPr lang="en-US" sz="7990" spc="-319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NO</a:t>
            </a:r>
            <a:r>
              <a:rPr lang="en-US" sz="7990" i="1" spc="-319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 </a:t>
            </a:r>
            <a:r>
              <a:rPr lang="en-US" sz="7990" spc="-319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INPI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8700" y="2971656"/>
            <a:ext cx="522739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spc="150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 Italics"/>
                <a:ea typeface="Anton Italics"/>
                <a:cs typeface="Anton Italics"/>
                <a:sym typeface="Anton Italics"/>
              </a:rPr>
              <a:t>POR QUE REGISTRAR?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35488" y="8008669"/>
            <a:ext cx="9588028" cy="1111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3647" spc="109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 Italics"/>
                <a:ea typeface="Anton Italics"/>
                <a:cs typeface="Anton Italics"/>
                <a:sym typeface="Anton Italics"/>
              </a:rPr>
              <a:t>O REGISTRO NÃO CRIA O DIREITO — APENAS FORMALIZA A PROVA DE TITULARIDADE.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3124200" y="616183"/>
            <a:ext cx="25444611" cy="1880912"/>
            <a:chOff x="0" y="0"/>
            <a:chExt cx="6701461" cy="4953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01461" cy="495384"/>
            </a:xfrm>
            <a:custGeom>
              <a:avLst/>
              <a:gdLst/>
              <a:ahLst/>
              <a:cxnLst/>
              <a:rect l="l" t="t" r="r" b="b"/>
              <a:pathLst>
                <a:path w="6701461" h="495384">
                  <a:moveTo>
                    <a:pt x="0" y="0"/>
                  </a:moveTo>
                  <a:lnTo>
                    <a:pt x="6701461" y="0"/>
                  </a:lnTo>
                  <a:lnTo>
                    <a:pt x="6701461" y="495384"/>
                  </a:lnTo>
                  <a:lnTo>
                    <a:pt x="0" y="495384"/>
                  </a:lnTo>
                  <a:close/>
                </a:path>
              </a:pathLst>
            </a:custGeom>
            <a:gradFill rotWithShape="1">
              <a:gsLst>
                <a:gs pos="0">
                  <a:srgbClr val="00CC66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701461" cy="523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09669" y="8008669"/>
            <a:ext cx="1249631" cy="12496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1044" r="-11709" b="-11548"/>
              </a:stretch>
            </a:blipFill>
            <a:ln w="38100" cap="sq">
              <a:solidFill>
                <a:srgbClr val="00CC6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35215" y="3600930"/>
            <a:ext cx="5352785" cy="3829758"/>
            <a:chOff x="0" y="0"/>
            <a:chExt cx="7137047" cy="5106345"/>
          </a:xfrm>
        </p:grpSpPr>
        <p:grpSp>
          <p:nvGrpSpPr>
            <p:cNvPr id="9" name="Group 9"/>
            <p:cNvGrpSpPr/>
            <p:nvPr/>
          </p:nvGrpSpPr>
          <p:grpSpPr>
            <a:xfrm rot="-10800000">
              <a:off x="4169358" y="2152737"/>
              <a:ext cx="2967689" cy="2082335"/>
              <a:chOff x="0" y="0"/>
              <a:chExt cx="586210" cy="411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86210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586210" h="411325">
                    <a:moveTo>
                      <a:pt x="0" y="0"/>
                    </a:moveTo>
                    <a:lnTo>
                      <a:pt x="586210" y="0"/>
                    </a:lnTo>
                    <a:lnTo>
                      <a:pt x="586210" y="411325"/>
                    </a:lnTo>
                    <a:lnTo>
                      <a:pt x="0" y="41132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E9D81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586210" cy="43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6701476" cy="5106345"/>
              <a:chOff x="0" y="0"/>
              <a:chExt cx="7758607" cy="59118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557" y="0"/>
                <a:ext cx="7748499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7748499" h="5911850">
                    <a:moveTo>
                      <a:pt x="1392648" y="402590"/>
                    </a:moveTo>
                    <a:lnTo>
                      <a:pt x="124891" y="2192020"/>
                    </a:lnTo>
                    <a:cubicBezTo>
                      <a:pt x="-77137" y="2498090"/>
                      <a:pt x="-33957" y="2884170"/>
                      <a:pt x="253684" y="3144520"/>
                    </a:cubicBezTo>
                    <a:lnTo>
                      <a:pt x="3077817" y="5651500"/>
                    </a:lnTo>
                    <a:cubicBezTo>
                      <a:pt x="3264023" y="5817870"/>
                      <a:pt x="3527816" y="5911850"/>
                      <a:pt x="3802471" y="5911850"/>
                    </a:cubicBezTo>
                    <a:lnTo>
                      <a:pt x="6761603" y="5911850"/>
                    </a:lnTo>
                    <a:cubicBezTo>
                      <a:pt x="7306258" y="5911850"/>
                      <a:pt x="7748499" y="5549900"/>
                      <a:pt x="7748499" y="5104130"/>
                    </a:cubicBezTo>
                    <a:lnTo>
                      <a:pt x="7748499" y="1891030"/>
                    </a:lnTo>
                    <a:cubicBezTo>
                      <a:pt x="7748499" y="1724660"/>
                      <a:pt x="7686430" y="1562100"/>
                      <a:pt x="7568499" y="1426210"/>
                    </a:cubicBezTo>
                    <a:lnTo>
                      <a:pt x="6637466" y="342900"/>
                    </a:lnTo>
                    <a:cubicBezTo>
                      <a:pt x="6452811" y="128270"/>
                      <a:pt x="6151777" y="0"/>
                      <a:pt x="5830571" y="0"/>
                    </a:cubicBezTo>
                    <a:lnTo>
                      <a:pt x="2246094" y="0"/>
                    </a:lnTo>
                    <a:cubicBezTo>
                      <a:pt x="1893853" y="0"/>
                      <a:pt x="1567992" y="153670"/>
                      <a:pt x="1392648" y="40259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499" r="-14665"/>
                </a:stretch>
              </a:blipFill>
              <a:ln w="47625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14" name="Group 14"/>
          <p:cNvGrpSpPr/>
          <p:nvPr/>
        </p:nvGrpSpPr>
        <p:grpSpPr>
          <a:xfrm>
            <a:off x="1028700" y="3331071"/>
            <a:ext cx="10744209" cy="5302413"/>
            <a:chOff x="0" y="0"/>
            <a:chExt cx="14325612" cy="706988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4325612" cy="2383879"/>
              <a:chOff x="0" y="0"/>
              <a:chExt cx="1441468" cy="23987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441468" cy="239870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239870">
                    <a:moveTo>
                      <a:pt x="1441468" y="36749"/>
                    </a:moveTo>
                    <a:lnTo>
                      <a:pt x="1441468" y="203121"/>
                    </a:lnTo>
                    <a:cubicBezTo>
                      <a:pt x="1441468" y="223417"/>
                      <a:pt x="1425015" y="239870"/>
                      <a:pt x="1404719" y="239870"/>
                    </a:cubicBezTo>
                    <a:lnTo>
                      <a:pt x="36749" y="239870"/>
                    </a:lnTo>
                    <a:cubicBezTo>
                      <a:pt x="16453" y="239870"/>
                      <a:pt x="0" y="223417"/>
                      <a:pt x="0" y="203121"/>
                    </a:cubicBezTo>
                    <a:lnTo>
                      <a:pt x="0" y="36749"/>
                    </a:lnTo>
                    <a:cubicBezTo>
                      <a:pt x="0" y="16453"/>
                      <a:pt x="16453" y="0"/>
                      <a:pt x="36749" y="0"/>
                    </a:cubicBezTo>
                    <a:lnTo>
                      <a:pt x="1404719" y="0"/>
                    </a:lnTo>
                    <a:cubicBezTo>
                      <a:pt x="1425015" y="0"/>
                      <a:pt x="1441468" y="16453"/>
                      <a:pt x="1441468" y="36749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0"/>
                <a:ext cx="1441468" cy="239870"/>
              </a:xfrm>
              <a:prstGeom prst="rect">
                <a:avLst/>
              </a:prstGeom>
            </p:spPr>
            <p:txBody>
              <a:bodyPr lIns="62916" tIns="62916" rIns="62916" bIns="62916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683229" y="598864"/>
              <a:ext cx="1186151" cy="1186151"/>
            </a:xfrm>
            <a:custGeom>
              <a:avLst/>
              <a:gdLst/>
              <a:ahLst/>
              <a:cxnLst/>
              <a:rect l="l" t="t" r="r" b="b"/>
              <a:pathLst>
                <a:path w="1186151" h="1186151">
                  <a:moveTo>
                    <a:pt x="0" y="0"/>
                  </a:moveTo>
                  <a:lnTo>
                    <a:pt x="1186151" y="0"/>
                  </a:lnTo>
                  <a:lnTo>
                    <a:pt x="1186151" y="1186151"/>
                  </a:lnTo>
                  <a:lnTo>
                    <a:pt x="0" y="1186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98877" y="1203896"/>
              <a:ext cx="9692216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6"/>
                </a:lnSpc>
              </a:pPr>
              <a:r>
                <a:rPr lang="en-US" sz="2172" spc="65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SOFTWARE ISOLADO E ALGORITMOS MATEMÁTICOS NÃO SÃO CONSIDERADOS INVENÇÃO NO BRASIL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58623" y="387808"/>
              <a:ext cx="9209397" cy="737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2"/>
                </a:lnSpc>
              </a:pPr>
              <a:r>
                <a:rPr lang="en-US" sz="3593" spc="107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NÃO PATENTEÁVEL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58623" y="6480361"/>
              <a:ext cx="11430432" cy="4445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6"/>
                </a:lnSpc>
              </a:pPr>
              <a:r>
                <a:rPr lang="en-US" sz="2172" spc="65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A PATENTE COBRE O SISTEMA TÉCNICO COMO UM TODO, NÃO O SOFTWARE EM SI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83229" y="5677652"/>
              <a:ext cx="1246048" cy="1392232"/>
            </a:xfrm>
            <a:custGeom>
              <a:avLst/>
              <a:gdLst/>
              <a:ahLst/>
              <a:cxnLst/>
              <a:rect l="l" t="t" r="r" b="b"/>
              <a:pathLst>
                <a:path w="1246048" h="1392232">
                  <a:moveTo>
                    <a:pt x="0" y="0"/>
                  </a:moveTo>
                  <a:lnTo>
                    <a:pt x="1246048" y="0"/>
                  </a:lnTo>
                  <a:lnTo>
                    <a:pt x="1246048" y="1392232"/>
                  </a:lnTo>
                  <a:lnTo>
                    <a:pt x="0" y="139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98877" y="5635854"/>
              <a:ext cx="4838554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2"/>
                </a:lnSpc>
              </a:pPr>
              <a:r>
                <a:rPr lang="en-US" sz="3593" spc="107">
                  <a:gradFill>
                    <a:gsLst>
                      <a:gs pos="0">
                        <a:srgbClr val="00CC6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Anton Italics"/>
                  <a:ea typeface="Anton Italics"/>
                  <a:cs typeface="Anton Italics"/>
                  <a:sym typeface="Anton Italics"/>
                </a:rPr>
                <a:t>PROTEÇÃO INDIRETA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0" y="3019830"/>
              <a:ext cx="14325612" cy="2383879"/>
              <a:chOff x="0" y="0"/>
              <a:chExt cx="1441468" cy="23987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441468" cy="239870"/>
              </a:xfrm>
              <a:custGeom>
                <a:avLst/>
                <a:gdLst/>
                <a:ahLst/>
                <a:cxnLst/>
                <a:rect l="l" t="t" r="r" b="b"/>
                <a:pathLst>
                  <a:path w="1441468" h="239870">
                    <a:moveTo>
                      <a:pt x="1441468" y="36749"/>
                    </a:moveTo>
                    <a:lnTo>
                      <a:pt x="1441468" y="203121"/>
                    </a:lnTo>
                    <a:cubicBezTo>
                      <a:pt x="1441468" y="223417"/>
                      <a:pt x="1425015" y="239870"/>
                      <a:pt x="1404719" y="239870"/>
                    </a:cubicBezTo>
                    <a:lnTo>
                      <a:pt x="36749" y="239870"/>
                    </a:lnTo>
                    <a:cubicBezTo>
                      <a:pt x="16453" y="239870"/>
                      <a:pt x="0" y="223417"/>
                      <a:pt x="0" y="203121"/>
                    </a:cubicBezTo>
                    <a:lnTo>
                      <a:pt x="0" y="36749"/>
                    </a:lnTo>
                    <a:cubicBezTo>
                      <a:pt x="0" y="16453"/>
                      <a:pt x="16453" y="0"/>
                      <a:pt x="36749" y="0"/>
                    </a:cubicBezTo>
                    <a:lnTo>
                      <a:pt x="1404719" y="0"/>
                    </a:lnTo>
                    <a:cubicBezTo>
                      <a:pt x="1425015" y="0"/>
                      <a:pt x="1441468" y="16453"/>
                      <a:pt x="1441468" y="36749"/>
                    </a:cubicBezTo>
                    <a:close/>
                  </a:path>
                </a:pathLst>
              </a:custGeom>
              <a:ln w="47625" cap="rnd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3E9D81">
                        <a:alpha val="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0"/>
                <a:ext cx="1441468" cy="239870"/>
              </a:xfrm>
              <a:prstGeom prst="rect">
                <a:avLst/>
              </a:prstGeom>
            </p:spPr>
            <p:txBody>
              <a:bodyPr lIns="62916" tIns="62916" rIns="62916" bIns="62916" rtlCol="0" anchor="ctr"/>
              <a:lstStyle/>
              <a:p>
                <a:pPr algn="ctr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683229" y="3658036"/>
              <a:ext cx="1246048" cy="975032"/>
            </a:xfrm>
            <a:custGeom>
              <a:avLst/>
              <a:gdLst/>
              <a:ahLst/>
              <a:cxnLst/>
              <a:rect l="l" t="t" r="r" b="b"/>
              <a:pathLst>
                <a:path w="1246048" h="975032">
                  <a:moveTo>
                    <a:pt x="0" y="0"/>
                  </a:moveTo>
                  <a:lnTo>
                    <a:pt x="1246048" y="0"/>
                  </a:lnTo>
                  <a:lnTo>
                    <a:pt x="1246048" y="975032"/>
                  </a:lnTo>
                  <a:lnTo>
                    <a:pt x="0" y="975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58623" y="4231809"/>
              <a:ext cx="9692216" cy="88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06"/>
                </a:lnSpc>
              </a:pPr>
              <a:r>
                <a:rPr lang="en-US" sz="2172" spc="65" dirty="0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QUANDO INTEGRADO A SOLUÇÃO TÉCNICA — SISTEMAS EMBARCADOS, AUTOMAÇÃO INDUSTRIAL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58623" y="3407638"/>
              <a:ext cx="9209397" cy="7379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12"/>
                </a:lnSpc>
              </a:pPr>
              <a:r>
                <a:rPr lang="en-US" sz="3593" spc="107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EXCEÇÃO APLICÁVEL</a:t>
              </a:r>
            </a:p>
          </p:txBody>
        </p:sp>
      </p:grpSp>
      <p:sp>
        <p:nvSpPr>
          <p:cNvPr id="30" name="Freeform 30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3" b="-133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1" name="TextBox 31"/>
          <p:cNvSpPr txBox="1"/>
          <p:nvPr/>
        </p:nvSpPr>
        <p:spPr>
          <a:xfrm>
            <a:off x="9276468" y="1274490"/>
            <a:ext cx="7982832" cy="972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45"/>
              </a:lnSpc>
            </a:pPr>
            <a:r>
              <a:rPr lang="en-US" sz="7521" spc="-300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PATENTES EM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09669" y="8008669"/>
            <a:ext cx="1249631" cy="124963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1044" r="-11709" b="-11548"/>
              </a:stretch>
            </a:blipFill>
            <a:ln w="38100" cap="sq">
              <a:solidFill>
                <a:srgbClr val="00CC6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" b="-13370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-3223599" y="782712"/>
            <a:ext cx="16594787" cy="1865642"/>
            <a:chOff x="0" y="0"/>
            <a:chExt cx="4370636" cy="4907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70636" cy="490704"/>
            </a:xfrm>
            <a:custGeom>
              <a:avLst/>
              <a:gdLst/>
              <a:ahLst/>
              <a:cxnLst/>
              <a:rect l="l" t="t" r="r" b="b"/>
              <a:pathLst>
                <a:path w="4370636" h="490704">
                  <a:moveTo>
                    <a:pt x="4370636" y="0"/>
                  </a:moveTo>
                  <a:lnTo>
                    <a:pt x="4370636" y="490704"/>
                  </a:lnTo>
                  <a:lnTo>
                    <a:pt x="0" y="490704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66">
                    <a:alpha val="61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370636" cy="51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3993934"/>
            <a:ext cx="8832991" cy="1483581"/>
            <a:chOff x="0" y="0"/>
            <a:chExt cx="1441468" cy="2421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1468" cy="242107"/>
            </a:xfrm>
            <a:custGeom>
              <a:avLst/>
              <a:gdLst/>
              <a:ahLst/>
              <a:cxnLst/>
              <a:rect l="l" t="t" r="r" b="b"/>
              <a:pathLst>
                <a:path w="1441468" h="242107">
                  <a:moveTo>
                    <a:pt x="1441468" y="44700"/>
                  </a:moveTo>
                  <a:lnTo>
                    <a:pt x="1441468" y="197407"/>
                  </a:lnTo>
                  <a:cubicBezTo>
                    <a:pt x="1441468" y="222094"/>
                    <a:pt x="1421455" y="242107"/>
                    <a:pt x="1396768" y="242107"/>
                  </a:cubicBezTo>
                  <a:lnTo>
                    <a:pt x="44700" y="242107"/>
                  </a:lnTo>
                  <a:cubicBezTo>
                    <a:pt x="20013" y="242107"/>
                    <a:pt x="0" y="222094"/>
                    <a:pt x="0" y="197407"/>
                  </a:cubicBezTo>
                  <a:lnTo>
                    <a:pt x="0" y="44700"/>
                  </a:lnTo>
                  <a:cubicBezTo>
                    <a:pt x="0" y="20013"/>
                    <a:pt x="20013" y="0"/>
                    <a:pt x="44700" y="0"/>
                  </a:cubicBezTo>
                  <a:lnTo>
                    <a:pt x="1396768" y="0"/>
                  </a:lnTo>
                  <a:cubicBezTo>
                    <a:pt x="1421455" y="0"/>
                    <a:pt x="1441468" y="20013"/>
                    <a:pt x="1441468" y="44700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441468" cy="242107"/>
            </a:xfrm>
            <a:prstGeom prst="rect">
              <a:avLst/>
            </a:prstGeom>
          </p:spPr>
          <p:txBody>
            <a:bodyPr lIns="50750" tIns="50750" rIns="50750" bIns="5075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578383" y="3220902"/>
            <a:ext cx="5709617" cy="4128186"/>
            <a:chOff x="0" y="0"/>
            <a:chExt cx="7612823" cy="5504248"/>
          </a:xfrm>
        </p:grpSpPr>
        <p:grpSp>
          <p:nvGrpSpPr>
            <p:cNvPr id="12" name="Group 12"/>
            <p:cNvGrpSpPr/>
            <p:nvPr/>
          </p:nvGrpSpPr>
          <p:grpSpPr>
            <a:xfrm rot="-10800000">
              <a:off x="4447299" y="2320486"/>
              <a:ext cx="3165523" cy="2244598"/>
              <a:chOff x="0" y="0"/>
              <a:chExt cx="580086" cy="41132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80086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580086" h="411325">
                    <a:moveTo>
                      <a:pt x="0" y="0"/>
                    </a:moveTo>
                    <a:lnTo>
                      <a:pt x="580086" y="0"/>
                    </a:lnTo>
                    <a:lnTo>
                      <a:pt x="580086" y="411325"/>
                    </a:lnTo>
                    <a:lnTo>
                      <a:pt x="0" y="41132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E9D81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580086" cy="43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0"/>
              <a:ext cx="7148216" cy="5504248"/>
              <a:chOff x="0" y="0"/>
              <a:chExt cx="7677557" cy="59118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082" y="0"/>
                <a:ext cx="7667939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7667939" h="5911850">
                    <a:moveTo>
                      <a:pt x="1378485" y="402590"/>
                    </a:moveTo>
                    <a:lnTo>
                      <a:pt x="123972" y="2192020"/>
                    </a:lnTo>
                    <a:cubicBezTo>
                      <a:pt x="-76662" y="2498090"/>
                      <a:pt x="-33482" y="2884170"/>
                      <a:pt x="251419" y="3144520"/>
                    </a:cubicBezTo>
                    <a:lnTo>
                      <a:pt x="3046050" y="5651500"/>
                    </a:lnTo>
                    <a:cubicBezTo>
                      <a:pt x="3230311" y="5817870"/>
                      <a:pt x="3491348" y="5911850"/>
                      <a:pt x="3763134" y="5911850"/>
                    </a:cubicBezTo>
                    <a:lnTo>
                      <a:pt x="6691354" y="5911850"/>
                    </a:lnTo>
                    <a:cubicBezTo>
                      <a:pt x="7230318" y="5911850"/>
                      <a:pt x="7667939" y="5549900"/>
                      <a:pt x="7667939" y="5104130"/>
                    </a:cubicBezTo>
                    <a:lnTo>
                      <a:pt x="7667939" y="1891030"/>
                    </a:lnTo>
                    <a:cubicBezTo>
                      <a:pt x="7667939" y="1724660"/>
                      <a:pt x="7606518" y="1562100"/>
                      <a:pt x="7489820" y="1426210"/>
                    </a:cubicBezTo>
                    <a:lnTo>
                      <a:pt x="6568513" y="342900"/>
                    </a:lnTo>
                    <a:cubicBezTo>
                      <a:pt x="6385787" y="128270"/>
                      <a:pt x="6087898" y="0"/>
                      <a:pt x="5770047" y="0"/>
                    </a:cubicBezTo>
                    <a:lnTo>
                      <a:pt x="2223016" y="0"/>
                    </a:lnTo>
                    <a:cubicBezTo>
                      <a:pt x="1874455" y="0"/>
                      <a:pt x="1551997" y="153670"/>
                      <a:pt x="1378485" y="40259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7774" r="-7728"/>
                </a:stretch>
              </a:blipFill>
              <a:ln w="47625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028700" y="5725165"/>
            <a:ext cx="8832991" cy="1483581"/>
            <a:chOff x="0" y="0"/>
            <a:chExt cx="1441468" cy="24210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41468" cy="242107"/>
            </a:xfrm>
            <a:custGeom>
              <a:avLst/>
              <a:gdLst/>
              <a:ahLst/>
              <a:cxnLst/>
              <a:rect l="l" t="t" r="r" b="b"/>
              <a:pathLst>
                <a:path w="1441468" h="242107">
                  <a:moveTo>
                    <a:pt x="1441468" y="44700"/>
                  </a:moveTo>
                  <a:lnTo>
                    <a:pt x="1441468" y="197407"/>
                  </a:lnTo>
                  <a:cubicBezTo>
                    <a:pt x="1441468" y="222094"/>
                    <a:pt x="1421455" y="242107"/>
                    <a:pt x="1396768" y="242107"/>
                  </a:cubicBezTo>
                  <a:lnTo>
                    <a:pt x="44700" y="242107"/>
                  </a:lnTo>
                  <a:cubicBezTo>
                    <a:pt x="20013" y="242107"/>
                    <a:pt x="0" y="222094"/>
                    <a:pt x="0" y="197407"/>
                  </a:cubicBezTo>
                  <a:lnTo>
                    <a:pt x="0" y="44700"/>
                  </a:lnTo>
                  <a:cubicBezTo>
                    <a:pt x="0" y="20013"/>
                    <a:pt x="20013" y="0"/>
                    <a:pt x="44700" y="0"/>
                  </a:cubicBezTo>
                  <a:lnTo>
                    <a:pt x="1396768" y="0"/>
                  </a:lnTo>
                  <a:cubicBezTo>
                    <a:pt x="1421455" y="0"/>
                    <a:pt x="1441468" y="20013"/>
                    <a:pt x="1441468" y="44700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1441468" cy="242107"/>
            </a:xfrm>
            <a:prstGeom prst="rect">
              <a:avLst/>
            </a:prstGeom>
          </p:spPr>
          <p:txBody>
            <a:bodyPr lIns="50750" tIns="50750" rIns="50750" bIns="5075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8700" y="7456397"/>
            <a:ext cx="8832991" cy="1483581"/>
            <a:chOff x="0" y="0"/>
            <a:chExt cx="1441468" cy="2421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41468" cy="242107"/>
            </a:xfrm>
            <a:custGeom>
              <a:avLst/>
              <a:gdLst/>
              <a:ahLst/>
              <a:cxnLst/>
              <a:rect l="l" t="t" r="r" b="b"/>
              <a:pathLst>
                <a:path w="1441468" h="242107">
                  <a:moveTo>
                    <a:pt x="1441468" y="44700"/>
                  </a:moveTo>
                  <a:lnTo>
                    <a:pt x="1441468" y="197407"/>
                  </a:lnTo>
                  <a:cubicBezTo>
                    <a:pt x="1441468" y="222094"/>
                    <a:pt x="1421455" y="242107"/>
                    <a:pt x="1396768" y="242107"/>
                  </a:cubicBezTo>
                  <a:lnTo>
                    <a:pt x="44700" y="242107"/>
                  </a:lnTo>
                  <a:cubicBezTo>
                    <a:pt x="20013" y="242107"/>
                    <a:pt x="0" y="222094"/>
                    <a:pt x="0" y="197407"/>
                  </a:cubicBezTo>
                  <a:lnTo>
                    <a:pt x="0" y="44700"/>
                  </a:lnTo>
                  <a:cubicBezTo>
                    <a:pt x="0" y="20013"/>
                    <a:pt x="20013" y="0"/>
                    <a:pt x="44700" y="0"/>
                  </a:cubicBezTo>
                  <a:lnTo>
                    <a:pt x="1396768" y="0"/>
                  </a:lnTo>
                  <a:cubicBezTo>
                    <a:pt x="1421455" y="0"/>
                    <a:pt x="1441468" y="20013"/>
                    <a:pt x="1441468" y="44700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441468" cy="242107"/>
            </a:xfrm>
            <a:prstGeom prst="rect">
              <a:avLst/>
            </a:prstGeom>
          </p:spPr>
          <p:txBody>
            <a:bodyPr lIns="50750" tIns="50750" rIns="50750" bIns="5075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522042" y="4321384"/>
            <a:ext cx="787714" cy="787714"/>
          </a:xfrm>
          <a:custGeom>
            <a:avLst/>
            <a:gdLst/>
            <a:ahLst/>
            <a:cxnLst/>
            <a:rect l="l" t="t" r="r" b="b"/>
            <a:pathLst>
              <a:path w="787714" h="787714">
                <a:moveTo>
                  <a:pt x="0" y="0"/>
                </a:moveTo>
                <a:lnTo>
                  <a:pt x="787714" y="0"/>
                </a:lnTo>
                <a:lnTo>
                  <a:pt x="787714" y="787714"/>
                </a:lnTo>
                <a:lnTo>
                  <a:pt x="0" y="787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4" name="Freeform 24"/>
          <p:cNvSpPr/>
          <p:nvPr/>
        </p:nvSpPr>
        <p:spPr>
          <a:xfrm>
            <a:off x="1522042" y="6177921"/>
            <a:ext cx="979780" cy="578070"/>
          </a:xfrm>
          <a:custGeom>
            <a:avLst/>
            <a:gdLst/>
            <a:ahLst/>
            <a:cxnLst/>
            <a:rect l="l" t="t" r="r" b="b"/>
            <a:pathLst>
              <a:path w="979780" h="578070">
                <a:moveTo>
                  <a:pt x="0" y="0"/>
                </a:moveTo>
                <a:lnTo>
                  <a:pt x="979780" y="0"/>
                </a:lnTo>
                <a:lnTo>
                  <a:pt x="979780" y="578070"/>
                </a:lnTo>
                <a:lnTo>
                  <a:pt x="0" y="5780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5" name="Freeform 25"/>
          <p:cNvSpPr/>
          <p:nvPr/>
        </p:nvSpPr>
        <p:spPr>
          <a:xfrm>
            <a:off x="1624069" y="7810324"/>
            <a:ext cx="775727" cy="775727"/>
          </a:xfrm>
          <a:custGeom>
            <a:avLst/>
            <a:gdLst/>
            <a:ahLst/>
            <a:cxnLst/>
            <a:rect l="l" t="t" r="r" b="b"/>
            <a:pathLst>
              <a:path w="775727" h="775727">
                <a:moveTo>
                  <a:pt x="0" y="0"/>
                </a:moveTo>
                <a:lnTo>
                  <a:pt x="775727" y="0"/>
                </a:lnTo>
                <a:lnTo>
                  <a:pt x="775727" y="775727"/>
                </a:lnTo>
                <a:lnTo>
                  <a:pt x="0" y="7757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6" name="TextBox 26"/>
          <p:cNvSpPr txBox="1"/>
          <p:nvPr/>
        </p:nvSpPr>
        <p:spPr>
          <a:xfrm>
            <a:off x="3417321" y="1298651"/>
            <a:ext cx="10228510" cy="102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1"/>
              </a:lnSpc>
            </a:pPr>
            <a:r>
              <a:rPr lang="en-US" sz="7990" spc="-319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PLÁGIO E PENALIDADES LEGAIS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2971656"/>
            <a:ext cx="7502876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spc="150" dirty="0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 Italics"/>
                <a:ea typeface="Anton Italics"/>
                <a:cs typeface="Anton Italics"/>
                <a:sym typeface="Anton Italics"/>
              </a:rPr>
              <a:t>PRINCIPAIS RISCOS JURÍDICOS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001761" y="4222586"/>
            <a:ext cx="3822092" cy="4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3240" spc="97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CÓPIA NÃO AUTORIZADA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01761" y="4715241"/>
            <a:ext cx="5529815" cy="55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4"/>
              </a:lnSpc>
            </a:pPr>
            <a:r>
              <a:rPr lang="en-US" sz="1795" spc="5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TOTAL OU PARCIAL DO CÓDIGO-FONTE CONFIGURA </a:t>
            </a:r>
          </a:p>
          <a:p>
            <a:pPr algn="l">
              <a:lnSpc>
                <a:spcPts val="2154"/>
              </a:lnSpc>
            </a:pPr>
            <a:r>
              <a:rPr lang="en-US" sz="1795" spc="5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VIOLAÇÃO DE DIREITOS AUTORAIS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001761" y="5953817"/>
            <a:ext cx="5529815" cy="1046781"/>
            <a:chOff x="0" y="0"/>
            <a:chExt cx="7373087" cy="1395707"/>
          </a:xfrm>
        </p:grpSpPr>
        <p:sp>
          <p:nvSpPr>
            <p:cNvPr id="31" name="TextBox 31"/>
            <p:cNvSpPr txBox="1"/>
            <p:nvPr/>
          </p:nvSpPr>
          <p:spPr>
            <a:xfrm>
              <a:off x="0" y="0"/>
              <a:ext cx="5096123" cy="1313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89"/>
                </a:lnSpc>
              </a:pPr>
              <a:r>
                <a:rPr lang="en-US" sz="3240" spc="97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PENALIDADES LEGAIS</a:t>
              </a:r>
            </a:p>
            <a:p>
              <a:pPr algn="l">
                <a:lnSpc>
                  <a:spcPts val="3889"/>
                </a:lnSpc>
              </a:pPr>
              <a:endParaRPr lang="en-US" sz="3240" spc="9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656873"/>
              <a:ext cx="7373087" cy="738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4"/>
                </a:lnSpc>
              </a:pPr>
              <a:r>
                <a:rPr lang="en-US" sz="1795" spc="53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SANÇÕES CIVIS E CRIMINAIS PREVISTAS EM LEI </a:t>
              </a:r>
            </a:p>
            <a:p>
              <a:pPr algn="l">
                <a:lnSpc>
                  <a:spcPts val="2154"/>
                </a:lnSpc>
              </a:pPr>
              <a:r>
                <a:rPr lang="en-US" sz="1795" spc="53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PARA O INFRATOR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001761" y="7685049"/>
            <a:ext cx="5529815" cy="1328910"/>
            <a:chOff x="0" y="0"/>
            <a:chExt cx="7373087" cy="1771879"/>
          </a:xfrm>
        </p:grpSpPr>
        <p:sp>
          <p:nvSpPr>
            <p:cNvPr id="34" name="TextBox 34"/>
            <p:cNvSpPr txBox="1"/>
            <p:nvPr/>
          </p:nvSpPr>
          <p:spPr>
            <a:xfrm>
              <a:off x="0" y="0"/>
              <a:ext cx="5096123" cy="13137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89"/>
                </a:lnSpc>
              </a:pPr>
              <a:r>
                <a:rPr lang="en-US" sz="3240" spc="97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DANO REPUTACIONAL</a:t>
              </a:r>
            </a:p>
            <a:p>
              <a:pPr algn="l">
                <a:lnSpc>
                  <a:spcPts val="3889"/>
                </a:lnSpc>
              </a:pPr>
              <a:endParaRPr lang="en-US" sz="3240" spc="9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656873"/>
              <a:ext cx="7373087" cy="1115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54"/>
                </a:lnSpc>
              </a:pPr>
              <a:r>
                <a:rPr lang="en-US" sz="1795" spc="53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IMPACTO SEVERO À IMAGEM DA EMPRESA E </a:t>
              </a:r>
            </a:p>
            <a:p>
              <a:pPr algn="l">
                <a:lnSpc>
                  <a:spcPts val="2154"/>
                </a:lnSpc>
              </a:pPr>
              <a:r>
                <a:rPr lang="en-US" sz="1795" spc="53">
                  <a:solidFill>
                    <a:srgbClr val="FFFFFF"/>
                  </a:solidFill>
                  <a:latin typeface="Anton Italics"/>
                  <a:ea typeface="Anton Italics"/>
                  <a:cs typeface="Anton Italics"/>
                  <a:sym typeface="Anton Italics"/>
                </a:rPr>
                <a:t>SEUS PRODUTOS</a:t>
              </a:r>
            </a:p>
            <a:p>
              <a:pPr algn="l">
                <a:lnSpc>
                  <a:spcPts val="2154"/>
                </a:lnSpc>
              </a:pPr>
              <a:endParaRPr lang="en-US" sz="1795" spc="53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17315" y="734427"/>
            <a:ext cx="25444611" cy="1880912"/>
            <a:chOff x="0" y="0"/>
            <a:chExt cx="6701461" cy="4953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701461" cy="495384"/>
            </a:xfrm>
            <a:custGeom>
              <a:avLst/>
              <a:gdLst/>
              <a:ahLst/>
              <a:cxnLst/>
              <a:rect l="l" t="t" r="r" b="b"/>
              <a:pathLst>
                <a:path w="6701461" h="495384">
                  <a:moveTo>
                    <a:pt x="0" y="0"/>
                  </a:moveTo>
                  <a:lnTo>
                    <a:pt x="6701461" y="0"/>
                  </a:lnTo>
                  <a:lnTo>
                    <a:pt x="6701461" y="495384"/>
                  </a:lnTo>
                  <a:lnTo>
                    <a:pt x="0" y="495384"/>
                  </a:lnTo>
                  <a:close/>
                </a:path>
              </a:pathLst>
            </a:custGeom>
            <a:gradFill rotWithShape="1">
              <a:gsLst>
                <a:gs pos="0">
                  <a:srgbClr val="00CC66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6701461" cy="5239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09669" y="8008669"/>
            <a:ext cx="1249631" cy="124963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1044" r="-11709" b="-11548"/>
              </a:stretch>
            </a:blipFill>
            <a:ln w="38100" cap="sq">
              <a:solidFill>
                <a:srgbClr val="00CC66"/>
              </a:solidFill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935215" y="3871114"/>
            <a:ext cx="5352785" cy="3829758"/>
            <a:chOff x="0" y="0"/>
            <a:chExt cx="7137047" cy="5106345"/>
          </a:xfrm>
        </p:grpSpPr>
        <p:grpSp>
          <p:nvGrpSpPr>
            <p:cNvPr id="9" name="Group 9"/>
            <p:cNvGrpSpPr/>
            <p:nvPr/>
          </p:nvGrpSpPr>
          <p:grpSpPr>
            <a:xfrm rot="-10800000">
              <a:off x="4169358" y="2152737"/>
              <a:ext cx="2967689" cy="2082335"/>
              <a:chOff x="0" y="0"/>
              <a:chExt cx="586210" cy="411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86210" cy="411325"/>
              </a:xfrm>
              <a:custGeom>
                <a:avLst/>
                <a:gdLst/>
                <a:ahLst/>
                <a:cxnLst/>
                <a:rect l="l" t="t" r="r" b="b"/>
                <a:pathLst>
                  <a:path w="586210" h="411325">
                    <a:moveTo>
                      <a:pt x="0" y="0"/>
                    </a:moveTo>
                    <a:lnTo>
                      <a:pt x="586210" y="0"/>
                    </a:lnTo>
                    <a:lnTo>
                      <a:pt x="586210" y="411325"/>
                    </a:lnTo>
                    <a:lnTo>
                      <a:pt x="0" y="41132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E9D81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586210" cy="439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6701476" cy="5106345"/>
              <a:chOff x="0" y="0"/>
              <a:chExt cx="7758607" cy="59118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557" y="0"/>
                <a:ext cx="7748499" cy="5911850"/>
              </a:xfrm>
              <a:custGeom>
                <a:avLst/>
                <a:gdLst/>
                <a:ahLst/>
                <a:cxnLst/>
                <a:rect l="l" t="t" r="r" b="b"/>
                <a:pathLst>
                  <a:path w="7748499" h="5911850">
                    <a:moveTo>
                      <a:pt x="1392648" y="402590"/>
                    </a:moveTo>
                    <a:lnTo>
                      <a:pt x="124891" y="2192020"/>
                    </a:lnTo>
                    <a:cubicBezTo>
                      <a:pt x="-77137" y="2498090"/>
                      <a:pt x="-33957" y="2884170"/>
                      <a:pt x="253684" y="3144520"/>
                    </a:cubicBezTo>
                    <a:lnTo>
                      <a:pt x="3077817" y="5651500"/>
                    </a:lnTo>
                    <a:cubicBezTo>
                      <a:pt x="3264023" y="5817870"/>
                      <a:pt x="3527816" y="5911850"/>
                      <a:pt x="3802471" y="5911850"/>
                    </a:cubicBezTo>
                    <a:lnTo>
                      <a:pt x="6761603" y="5911850"/>
                    </a:lnTo>
                    <a:cubicBezTo>
                      <a:pt x="7306258" y="5911850"/>
                      <a:pt x="7748499" y="5549900"/>
                      <a:pt x="7748499" y="5104130"/>
                    </a:cubicBezTo>
                    <a:lnTo>
                      <a:pt x="7748499" y="1891030"/>
                    </a:lnTo>
                    <a:cubicBezTo>
                      <a:pt x="7748499" y="1724660"/>
                      <a:pt x="7686430" y="1562100"/>
                      <a:pt x="7568499" y="1426210"/>
                    </a:cubicBezTo>
                    <a:lnTo>
                      <a:pt x="6637466" y="342900"/>
                    </a:lnTo>
                    <a:cubicBezTo>
                      <a:pt x="6452811" y="128270"/>
                      <a:pt x="6151777" y="0"/>
                      <a:pt x="5830571" y="0"/>
                    </a:cubicBezTo>
                    <a:lnTo>
                      <a:pt x="2246094" y="0"/>
                    </a:lnTo>
                    <a:cubicBezTo>
                      <a:pt x="1893853" y="0"/>
                      <a:pt x="1567992" y="153670"/>
                      <a:pt x="1392648" y="40259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17819" r="-17819"/>
                </a:stretch>
              </a:blipFill>
              <a:ln w="47625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4" name="Freeform 14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3" b="-133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1405620" y="4074008"/>
            <a:ext cx="575213" cy="779230"/>
          </a:xfrm>
          <a:custGeom>
            <a:avLst/>
            <a:gdLst/>
            <a:ahLst/>
            <a:cxnLst/>
            <a:rect l="l" t="t" r="r" b="b"/>
            <a:pathLst>
              <a:path w="575213" h="779230">
                <a:moveTo>
                  <a:pt x="0" y="0"/>
                </a:moveTo>
                <a:lnTo>
                  <a:pt x="575214" y="0"/>
                </a:lnTo>
                <a:lnTo>
                  <a:pt x="575214" y="779230"/>
                </a:lnTo>
                <a:lnTo>
                  <a:pt x="0" y="779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6" name="Group 16"/>
          <p:cNvGrpSpPr/>
          <p:nvPr/>
        </p:nvGrpSpPr>
        <p:grpSpPr>
          <a:xfrm>
            <a:off x="1028700" y="7962151"/>
            <a:ext cx="9488730" cy="1186317"/>
            <a:chOff x="0" y="0"/>
            <a:chExt cx="1441468" cy="1802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41611"/>
                  </a:moveTo>
                  <a:lnTo>
                    <a:pt x="1441468" y="138606"/>
                  </a:lnTo>
                  <a:cubicBezTo>
                    <a:pt x="1441468" y="149642"/>
                    <a:pt x="1437084" y="160226"/>
                    <a:pt x="1429281" y="168030"/>
                  </a:cubicBezTo>
                  <a:cubicBezTo>
                    <a:pt x="1421477" y="175834"/>
                    <a:pt x="1410893" y="180218"/>
                    <a:pt x="1399857" y="180218"/>
                  </a:cubicBezTo>
                  <a:lnTo>
                    <a:pt x="41611" y="180218"/>
                  </a:lnTo>
                  <a:cubicBezTo>
                    <a:pt x="30575" y="180218"/>
                    <a:pt x="19991" y="175834"/>
                    <a:pt x="12188" y="168030"/>
                  </a:cubicBezTo>
                  <a:cubicBezTo>
                    <a:pt x="4384" y="160226"/>
                    <a:pt x="0" y="149642"/>
                    <a:pt x="0" y="138606"/>
                  </a:cubicBezTo>
                  <a:lnTo>
                    <a:pt x="0" y="41611"/>
                  </a:lnTo>
                  <a:cubicBezTo>
                    <a:pt x="0" y="30575"/>
                    <a:pt x="4384" y="19991"/>
                    <a:pt x="12188" y="12188"/>
                  </a:cubicBezTo>
                  <a:cubicBezTo>
                    <a:pt x="19991" y="4384"/>
                    <a:pt x="30575" y="0"/>
                    <a:pt x="41611" y="0"/>
                  </a:cubicBezTo>
                  <a:lnTo>
                    <a:pt x="1399857" y="0"/>
                  </a:lnTo>
                  <a:cubicBezTo>
                    <a:pt x="1422838" y="0"/>
                    <a:pt x="1441468" y="18630"/>
                    <a:pt x="1441468" y="41611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55564" tIns="55564" rIns="55564" bIns="55564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3870464"/>
            <a:ext cx="9488730" cy="1186317"/>
            <a:chOff x="0" y="0"/>
            <a:chExt cx="1441468" cy="1802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41611"/>
                  </a:moveTo>
                  <a:lnTo>
                    <a:pt x="1441468" y="138606"/>
                  </a:lnTo>
                  <a:cubicBezTo>
                    <a:pt x="1441468" y="149642"/>
                    <a:pt x="1437084" y="160226"/>
                    <a:pt x="1429281" y="168030"/>
                  </a:cubicBezTo>
                  <a:cubicBezTo>
                    <a:pt x="1421477" y="175834"/>
                    <a:pt x="1410893" y="180218"/>
                    <a:pt x="1399857" y="180218"/>
                  </a:cubicBezTo>
                  <a:lnTo>
                    <a:pt x="41611" y="180218"/>
                  </a:lnTo>
                  <a:cubicBezTo>
                    <a:pt x="30575" y="180218"/>
                    <a:pt x="19991" y="175834"/>
                    <a:pt x="12188" y="168030"/>
                  </a:cubicBezTo>
                  <a:cubicBezTo>
                    <a:pt x="4384" y="160226"/>
                    <a:pt x="0" y="149642"/>
                    <a:pt x="0" y="138606"/>
                  </a:cubicBezTo>
                  <a:lnTo>
                    <a:pt x="0" y="41611"/>
                  </a:lnTo>
                  <a:cubicBezTo>
                    <a:pt x="0" y="30575"/>
                    <a:pt x="4384" y="19991"/>
                    <a:pt x="12188" y="12188"/>
                  </a:cubicBezTo>
                  <a:cubicBezTo>
                    <a:pt x="19991" y="4384"/>
                    <a:pt x="30575" y="0"/>
                    <a:pt x="41611" y="0"/>
                  </a:cubicBezTo>
                  <a:lnTo>
                    <a:pt x="1399857" y="0"/>
                  </a:lnTo>
                  <a:cubicBezTo>
                    <a:pt x="1422838" y="0"/>
                    <a:pt x="1441468" y="18630"/>
                    <a:pt x="1441468" y="41611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55564" tIns="55564" rIns="55564" bIns="55564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8700" y="5255690"/>
            <a:ext cx="9488730" cy="1186317"/>
            <a:chOff x="0" y="0"/>
            <a:chExt cx="1441468" cy="1802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41611"/>
                  </a:moveTo>
                  <a:lnTo>
                    <a:pt x="1441468" y="138606"/>
                  </a:lnTo>
                  <a:cubicBezTo>
                    <a:pt x="1441468" y="149642"/>
                    <a:pt x="1437084" y="160226"/>
                    <a:pt x="1429281" y="168030"/>
                  </a:cubicBezTo>
                  <a:cubicBezTo>
                    <a:pt x="1421477" y="175834"/>
                    <a:pt x="1410893" y="180218"/>
                    <a:pt x="1399857" y="180218"/>
                  </a:cubicBezTo>
                  <a:lnTo>
                    <a:pt x="41611" y="180218"/>
                  </a:lnTo>
                  <a:cubicBezTo>
                    <a:pt x="30575" y="180218"/>
                    <a:pt x="19991" y="175834"/>
                    <a:pt x="12188" y="168030"/>
                  </a:cubicBezTo>
                  <a:cubicBezTo>
                    <a:pt x="4384" y="160226"/>
                    <a:pt x="0" y="149642"/>
                    <a:pt x="0" y="138606"/>
                  </a:cubicBezTo>
                  <a:lnTo>
                    <a:pt x="0" y="41611"/>
                  </a:lnTo>
                  <a:cubicBezTo>
                    <a:pt x="0" y="30575"/>
                    <a:pt x="4384" y="19991"/>
                    <a:pt x="12188" y="12188"/>
                  </a:cubicBezTo>
                  <a:cubicBezTo>
                    <a:pt x="19991" y="4384"/>
                    <a:pt x="30575" y="0"/>
                    <a:pt x="41611" y="0"/>
                  </a:cubicBezTo>
                  <a:lnTo>
                    <a:pt x="1399857" y="0"/>
                  </a:lnTo>
                  <a:cubicBezTo>
                    <a:pt x="1422838" y="0"/>
                    <a:pt x="1441468" y="18630"/>
                    <a:pt x="1441468" y="41611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55564" tIns="55564" rIns="55564" bIns="55564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28700" y="6654795"/>
            <a:ext cx="9488730" cy="1186317"/>
            <a:chOff x="0" y="0"/>
            <a:chExt cx="1441468" cy="18021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41468" cy="180218"/>
            </a:xfrm>
            <a:custGeom>
              <a:avLst/>
              <a:gdLst/>
              <a:ahLst/>
              <a:cxnLst/>
              <a:rect l="l" t="t" r="r" b="b"/>
              <a:pathLst>
                <a:path w="1441468" h="180218">
                  <a:moveTo>
                    <a:pt x="1441468" y="41611"/>
                  </a:moveTo>
                  <a:lnTo>
                    <a:pt x="1441468" y="138606"/>
                  </a:lnTo>
                  <a:cubicBezTo>
                    <a:pt x="1441468" y="149642"/>
                    <a:pt x="1437084" y="160226"/>
                    <a:pt x="1429281" y="168030"/>
                  </a:cubicBezTo>
                  <a:cubicBezTo>
                    <a:pt x="1421477" y="175834"/>
                    <a:pt x="1410893" y="180218"/>
                    <a:pt x="1399857" y="180218"/>
                  </a:cubicBezTo>
                  <a:lnTo>
                    <a:pt x="41611" y="180218"/>
                  </a:lnTo>
                  <a:cubicBezTo>
                    <a:pt x="30575" y="180218"/>
                    <a:pt x="19991" y="175834"/>
                    <a:pt x="12188" y="168030"/>
                  </a:cubicBezTo>
                  <a:cubicBezTo>
                    <a:pt x="4384" y="160226"/>
                    <a:pt x="0" y="149642"/>
                    <a:pt x="0" y="138606"/>
                  </a:cubicBezTo>
                  <a:lnTo>
                    <a:pt x="0" y="41611"/>
                  </a:lnTo>
                  <a:cubicBezTo>
                    <a:pt x="0" y="30575"/>
                    <a:pt x="4384" y="19991"/>
                    <a:pt x="12188" y="12188"/>
                  </a:cubicBezTo>
                  <a:cubicBezTo>
                    <a:pt x="19991" y="4384"/>
                    <a:pt x="30575" y="0"/>
                    <a:pt x="41611" y="0"/>
                  </a:cubicBezTo>
                  <a:lnTo>
                    <a:pt x="1399857" y="0"/>
                  </a:lnTo>
                  <a:cubicBezTo>
                    <a:pt x="1422838" y="0"/>
                    <a:pt x="1441468" y="18630"/>
                    <a:pt x="1441468" y="41611"/>
                  </a:cubicBezTo>
                  <a:close/>
                </a:path>
              </a:pathLst>
            </a:custGeom>
            <a:ln w="47625" cap="rnd">
              <a:gradFill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441468" cy="180218"/>
            </a:xfrm>
            <a:prstGeom prst="rect">
              <a:avLst/>
            </a:prstGeom>
          </p:spPr>
          <p:txBody>
            <a:bodyPr lIns="55564" tIns="55564" rIns="55564" bIns="55564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422149" y="5526616"/>
            <a:ext cx="542156" cy="644465"/>
          </a:xfrm>
          <a:custGeom>
            <a:avLst/>
            <a:gdLst/>
            <a:ahLst/>
            <a:cxnLst/>
            <a:rect l="l" t="t" r="r" b="b"/>
            <a:pathLst>
              <a:path w="542156" h="644465">
                <a:moveTo>
                  <a:pt x="0" y="0"/>
                </a:moveTo>
                <a:lnTo>
                  <a:pt x="542156" y="0"/>
                </a:lnTo>
                <a:lnTo>
                  <a:pt x="542156" y="644465"/>
                </a:lnTo>
                <a:lnTo>
                  <a:pt x="0" y="6444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29" name="Freeform 29"/>
          <p:cNvSpPr/>
          <p:nvPr/>
        </p:nvSpPr>
        <p:spPr>
          <a:xfrm>
            <a:off x="1434069" y="6945328"/>
            <a:ext cx="518316" cy="605253"/>
          </a:xfrm>
          <a:custGeom>
            <a:avLst/>
            <a:gdLst/>
            <a:ahLst/>
            <a:cxnLst/>
            <a:rect l="l" t="t" r="r" b="b"/>
            <a:pathLst>
              <a:path w="518316" h="605253">
                <a:moveTo>
                  <a:pt x="0" y="0"/>
                </a:moveTo>
                <a:lnTo>
                  <a:pt x="518316" y="0"/>
                </a:lnTo>
                <a:lnTo>
                  <a:pt x="518316" y="605252"/>
                </a:lnTo>
                <a:lnTo>
                  <a:pt x="0" y="605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0" name="Freeform 30"/>
          <p:cNvSpPr/>
          <p:nvPr/>
        </p:nvSpPr>
        <p:spPr>
          <a:xfrm>
            <a:off x="1439469" y="8244902"/>
            <a:ext cx="507517" cy="620816"/>
          </a:xfrm>
          <a:custGeom>
            <a:avLst/>
            <a:gdLst/>
            <a:ahLst/>
            <a:cxnLst/>
            <a:rect l="l" t="t" r="r" b="b"/>
            <a:pathLst>
              <a:path w="507517" h="620816">
                <a:moveTo>
                  <a:pt x="0" y="0"/>
                </a:moveTo>
                <a:lnTo>
                  <a:pt x="507517" y="0"/>
                </a:lnTo>
                <a:lnTo>
                  <a:pt x="507517" y="620816"/>
                </a:lnTo>
                <a:lnTo>
                  <a:pt x="0" y="6208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1" name="TextBox 31"/>
          <p:cNvSpPr txBox="1"/>
          <p:nvPr/>
        </p:nvSpPr>
        <p:spPr>
          <a:xfrm>
            <a:off x="8352053" y="1274490"/>
            <a:ext cx="8907247" cy="972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45"/>
              </a:lnSpc>
            </a:pPr>
            <a:r>
              <a:rPr lang="en-US" sz="7521" spc="-30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GOVERNANÇA DE SOFTWARE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2949364"/>
            <a:ext cx="13743468" cy="597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7"/>
              </a:lnSpc>
            </a:pPr>
            <a:r>
              <a:rPr lang="en-US" sz="3981" spc="119">
                <a:gradFill>
                  <a:gsLst>
                    <a:gs pos="0">
                      <a:srgbClr val="00CC6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 Italics"/>
                <a:ea typeface="Anton Italics"/>
                <a:cs typeface="Anton Italics"/>
                <a:sym typeface="Anton Italics"/>
              </a:rPr>
              <a:t>BOAS PRÁTICAS PARA USO RESPONSÁVEL E COMPLIANCE TECNOLÓGICO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60226" y="4584664"/>
            <a:ext cx="8157204" cy="29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18" spc="5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RESPEITE OS TERMOS DE MIT, GPL E DEMAIS LICENÇAS OPEN SOURCE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302891" y="5491144"/>
            <a:ext cx="6099948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173" spc="95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AUDITORIA DE CÓDIGO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302891" y="5964076"/>
            <a:ext cx="8157204" cy="29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18" spc="5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VERIFIQUE REGULARMENTE A ORIGEM E CONFORMIDADE DO CÓDIGO UTILIZADO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302891" y="6835282"/>
            <a:ext cx="6099948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173" spc="95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DOCUMENTAÇÃO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302891" y="7308214"/>
            <a:ext cx="8157204" cy="29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18" spc="5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REGISTRE VERSÕES, AUTORIAS E HISTÓRICO DE ALTERAÇÕES DO SOFTWARE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02891" y="8205667"/>
            <a:ext cx="6099948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173" spc="95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COMPLIANCE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302891" y="8678599"/>
            <a:ext cx="6437755" cy="294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02"/>
              </a:lnSpc>
            </a:pPr>
            <a:r>
              <a:rPr lang="en-US" sz="1918" spc="57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IMPLEMENTE POLÍTICAS INTERNAS DE CONFORMIDADE TECNOLÓGICA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360226" y="4111732"/>
            <a:ext cx="6099948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173" spc="95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CONTROLE DE LICENÇAS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 rot="243146">
            <a:off x="63998" y="8471933"/>
            <a:ext cx="18288000" cy="2458195"/>
          </a:xfrm>
          <a:custGeom>
            <a:avLst/>
            <a:gdLst/>
            <a:ahLst/>
            <a:cxnLst/>
            <a:rect l="l" t="t" r="r" b="b"/>
            <a:pathLst>
              <a:path w="18288000" h="2458195">
                <a:moveTo>
                  <a:pt x="0" y="0"/>
                </a:moveTo>
                <a:lnTo>
                  <a:pt x="18288000" y="0"/>
                </a:lnTo>
                <a:lnTo>
                  <a:pt x="18288000" y="2458195"/>
                </a:lnTo>
                <a:lnTo>
                  <a:pt x="0" y="2458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" b="-133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6264764" y="1716177"/>
            <a:ext cx="5886467" cy="1265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97"/>
              </a:lnSpc>
            </a:pPr>
            <a:r>
              <a:rPr lang="en-US" sz="9891" spc="-395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OBRIGADO ! ! !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350008" y="4390455"/>
            <a:ext cx="13587984" cy="3610108"/>
            <a:chOff x="0" y="0"/>
            <a:chExt cx="18117312" cy="4813477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4813477" cy="4813477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1044" r="-11709" b="-11548"/>
                </a:stretch>
              </a:blipFill>
              <a:ln w="38100" cap="sq">
                <a:solidFill>
                  <a:srgbClr val="00CC6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6022870" y="400708"/>
              <a:ext cx="12094442" cy="2069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98"/>
                </a:lnSpc>
              </a:pPr>
              <a:r>
                <a:rPr lang="en-US" sz="9332" b="1" spc="-186">
                  <a:solidFill>
                    <a:srgbClr val="00CC66"/>
                  </a:solidFill>
                  <a:latin typeface="Neo Tech Bold"/>
                  <a:ea typeface="Neo Tech Bold"/>
                  <a:cs typeface="Neo Tech Bold"/>
                  <a:sym typeface="Neo Tech Bold"/>
                </a:rPr>
                <a:t>CONTESTADOS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2870" y="2384878"/>
              <a:ext cx="8956356" cy="18469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29"/>
                </a:lnSpc>
              </a:pPr>
              <a:r>
                <a:rPr lang="en-US" sz="4357" b="1" spc="-87">
                  <a:solidFill>
                    <a:srgbClr val="FFFFFF"/>
                  </a:solidFill>
                  <a:latin typeface="Neo Tech Bold"/>
                  <a:ea typeface="Neo Tech Bold"/>
                  <a:cs typeface="Neo Tech Bold"/>
                  <a:sym typeface="Neo Tech Bold"/>
                </a:rPr>
                <a:t>GUSTAVO BECKER &amp; FRANKLIN KAUAN MEIRA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8951183" y="1100094"/>
            <a:ext cx="36318361" cy="2259526"/>
            <a:chOff x="0" y="0"/>
            <a:chExt cx="48424482" cy="3012701"/>
          </a:xfrm>
        </p:grpSpPr>
        <p:grpSp>
          <p:nvGrpSpPr>
            <p:cNvPr id="11" name="Group 11"/>
            <p:cNvGrpSpPr/>
            <p:nvPr/>
          </p:nvGrpSpPr>
          <p:grpSpPr>
            <a:xfrm rot="-10800000">
              <a:off x="24212241" y="0"/>
              <a:ext cx="24212241" cy="3012701"/>
              <a:chOff x="0" y="0"/>
              <a:chExt cx="4782665" cy="59510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4782665" cy="595101"/>
              </a:xfrm>
              <a:custGeom>
                <a:avLst/>
                <a:gdLst/>
                <a:ahLst/>
                <a:cxnLst/>
                <a:rect l="l" t="t" r="r" b="b"/>
                <a:pathLst>
                  <a:path w="4782665" h="595101">
                    <a:moveTo>
                      <a:pt x="0" y="0"/>
                    </a:moveTo>
                    <a:lnTo>
                      <a:pt x="4782665" y="0"/>
                    </a:lnTo>
                    <a:lnTo>
                      <a:pt x="4782665" y="595101"/>
                    </a:lnTo>
                    <a:lnTo>
                      <a:pt x="0" y="5951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4782665" cy="623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0" y="0"/>
              <a:ext cx="24212241" cy="3012701"/>
              <a:chOff x="0" y="0"/>
              <a:chExt cx="4782665" cy="59510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4782665" cy="595101"/>
              </a:xfrm>
              <a:custGeom>
                <a:avLst/>
                <a:gdLst/>
                <a:ahLst/>
                <a:cxnLst/>
                <a:rect l="l" t="t" r="r" b="b"/>
                <a:pathLst>
                  <a:path w="4782665" h="595101">
                    <a:moveTo>
                      <a:pt x="0" y="0"/>
                    </a:moveTo>
                    <a:lnTo>
                      <a:pt x="4782665" y="0"/>
                    </a:lnTo>
                    <a:lnTo>
                      <a:pt x="4782665" y="595101"/>
                    </a:lnTo>
                    <a:lnTo>
                      <a:pt x="0" y="5951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CC66">
                      <a:alpha val="100000"/>
                    </a:srgbClr>
                  </a:gs>
                  <a:gs pos="100000">
                    <a:srgbClr val="3E9D81">
                      <a:alpha val="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pt-BR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4782665" cy="6236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 dirty="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375</Words>
  <Application>Microsoft Office PowerPoint</Application>
  <PresentationFormat>Personalizar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Neo Tech Bold</vt:lpstr>
      <vt:lpstr>Arial Nova Italics</vt:lpstr>
      <vt:lpstr>Arial</vt:lpstr>
      <vt:lpstr>Calibri</vt:lpstr>
      <vt:lpstr>Anton Italics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Teal Modern Web Developer Presentation</dc:title>
  <cp:lastModifiedBy>AZO3 - Comercial</cp:lastModifiedBy>
  <cp:revision>6</cp:revision>
  <dcterms:created xsi:type="dcterms:W3CDTF">2006-08-16T00:00:00Z</dcterms:created>
  <dcterms:modified xsi:type="dcterms:W3CDTF">2026-04-05T02:56:11Z</dcterms:modified>
  <dc:identifier>DAHFu2uxRUY</dc:identifier>
</cp:coreProperties>
</file>