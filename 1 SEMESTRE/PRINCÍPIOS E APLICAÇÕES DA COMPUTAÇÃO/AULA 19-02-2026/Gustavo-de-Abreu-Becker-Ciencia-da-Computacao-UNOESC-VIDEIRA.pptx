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Roboto" panose="02000000000000000000" pitchFamily="2" charset="0"/>
      <p:regular r:id="rId14"/>
      <p:bold r:id="rId15"/>
    </p:embeddedFont>
    <p:embeddedFont>
      <p:font typeface="Roboto Light" panose="02000000000000000000" pitchFamily="2" charset="0"/>
      <p:regular r:id="rId16"/>
    </p:embeddedFont>
    <p:embeddedFont>
      <p:font typeface="Roboto Medium" panose="02000000000000000000" pitchFamily="2" charset="0"/>
      <p:regular r:id="rId17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8702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3454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Gustavo de Abreu Becker - Ciência da Computação - UNOESC VIDEIRA</a:t>
            </a:r>
            <a:endParaRPr lang="en-US" sz="1750" dirty="0"/>
          </a:p>
        </p:txBody>
      </p:sp>
      <p:sp>
        <p:nvSpPr>
          <p:cNvPr id="4" name="Text 1"/>
          <p:cNvSpPr/>
          <p:nvPr/>
        </p:nvSpPr>
        <p:spPr>
          <a:xfrm>
            <a:off x="793790" y="3624263"/>
            <a:ext cx="69563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 Evolução da Computação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67320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Cinco gerações de transformação tecnológica que revolucionaram a forma como vivemos, trabalhamos e nos conectamos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616" y="693777"/>
            <a:ext cx="10179725" cy="524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 Primeira Geração: O Nascimento dos Computadores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34616" y="1296114"/>
            <a:ext cx="4050387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1940 – 1956 | Válvulas Eletrônicas</a:t>
            </a:r>
            <a:endParaRPr lang="en-US" sz="2050" dirty="0"/>
          </a:p>
        </p:txBody>
      </p:sp>
      <p:sp>
        <p:nvSpPr>
          <p:cNvPr id="4" name="Shape 2"/>
          <p:cNvSpPr/>
          <p:nvPr/>
        </p:nvSpPr>
        <p:spPr>
          <a:xfrm>
            <a:off x="734616" y="1915478"/>
            <a:ext cx="4257556" cy="2673191"/>
          </a:xfrm>
          <a:prstGeom prst="roundRect">
            <a:avLst>
              <a:gd name="adj" fmla="val 3298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2143" y="2133005"/>
            <a:ext cx="629722" cy="629722"/>
          </a:xfrm>
          <a:prstGeom prst="roundRect">
            <a:avLst>
              <a:gd name="adj" fmla="val 14519241"/>
            </a:avLst>
          </a:prstGeom>
          <a:solidFill>
            <a:srgbClr val="5A6ED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5260" y="2306122"/>
            <a:ext cx="283369" cy="2833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2143" y="2956917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Marcos Tecnológicos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952143" y="3401378"/>
            <a:ext cx="3822502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Válvulas a vácuo revolucionam o processamento de informações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5186363" y="1915478"/>
            <a:ext cx="4257556" cy="2673191"/>
          </a:xfrm>
          <a:prstGeom prst="roundRect">
            <a:avLst>
              <a:gd name="adj" fmla="val 3298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03890" y="2133005"/>
            <a:ext cx="629722" cy="629722"/>
          </a:xfrm>
          <a:prstGeom prst="roundRect">
            <a:avLst>
              <a:gd name="adj" fmla="val 14519241"/>
            </a:avLst>
          </a:prstGeom>
          <a:solidFill>
            <a:srgbClr val="5A6ED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7007" y="2306122"/>
            <a:ext cx="283369" cy="2833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03890" y="2956917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Características</a:t>
            </a:r>
            <a:endParaRPr lang="en-US" sz="2050" dirty="0"/>
          </a:p>
        </p:txBody>
      </p:sp>
      <p:sp>
        <p:nvSpPr>
          <p:cNvPr id="13" name="Text 9"/>
          <p:cNvSpPr/>
          <p:nvPr/>
        </p:nvSpPr>
        <p:spPr>
          <a:xfrm>
            <a:off x="5403890" y="3401378"/>
            <a:ext cx="3822502" cy="969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Equipamentos de grande porte, alto consumo energético e baixa confiabilidade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9638109" y="1915478"/>
            <a:ext cx="4257556" cy="2673191"/>
          </a:xfrm>
          <a:prstGeom prst="roundRect">
            <a:avLst>
              <a:gd name="adj" fmla="val 3298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55637" y="2133005"/>
            <a:ext cx="629722" cy="629722"/>
          </a:xfrm>
          <a:prstGeom prst="roundRect">
            <a:avLst>
              <a:gd name="adj" fmla="val 14519241"/>
            </a:avLst>
          </a:prstGeom>
          <a:solidFill>
            <a:srgbClr val="5A6ED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28753" y="2306122"/>
            <a:ext cx="283369" cy="2833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55637" y="2956917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Programação</a:t>
            </a:r>
            <a:endParaRPr lang="en-US" sz="2050" dirty="0"/>
          </a:p>
        </p:txBody>
      </p:sp>
      <p:sp>
        <p:nvSpPr>
          <p:cNvPr id="18" name="Text 13"/>
          <p:cNvSpPr/>
          <p:nvPr/>
        </p:nvSpPr>
        <p:spPr>
          <a:xfrm>
            <a:off x="9855637" y="3401378"/>
            <a:ext cx="3822502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Linguagem de máquina em código binário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734616" y="4807148"/>
            <a:ext cx="13161169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processamento era gradualmente acelerado e os custos operacionais permaneciam elevados. A automação computacional inicia em ambientes militares e acadêmicos.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734616" y="5745004"/>
            <a:ext cx="3148727" cy="39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Principais Exemplos</a:t>
            </a:r>
            <a:endParaRPr lang="en-US" sz="2450" dirty="0"/>
          </a:p>
        </p:txBody>
      </p:sp>
      <p:sp>
        <p:nvSpPr>
          <p:cNvPr id="21" name="Text 16"/>
          <p:cNvSpPr/>
          <p:nvPr/>
        </p:nvSpPr>
        <p:spPr>
          <a:xfrm>
            <a:off x="734616" y="6429970"/>
            <a:ext cx="13161169" cy="1105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ENIAC (1946)</a:t>
            </a: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Primeiro computador eletrônico de propósito geral, ocupava 167 m²</a:t>
            </a:r>
            <a:endParaRPr lang="en-US" sz="16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UNIVAC I (1951)</a:t>
            </a: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Primeiro computador comercial americano, usado para o censo</a:t>
            </a:r>
            <a:endParaRPr lang="en-US" sz="16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 I</a:t>
            </a: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Computador eletromecânico pioneiro</a:t>
            </a:r>
            <a:endParaRPr lang="en-US" sz="1650" dirty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2A81285-A9BA-42C8-9F5D-F9DDF8950554}"/>
              </a:ext>
            </a:extLst>
          </p:cNvPr>
          <p:cNvSpPr/>
          <p:nvPr/>
        </p:nvSpPr>
        <p:spPr>
          <a:xfrm>
            <a:off x="0" y="7680960"/>
            <a:ext cx="14630400" cy="54864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12" y="2723793"/>
            <a:ext cx="5365075" cy="451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 Segunda Geração: Transistores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88112" y="3232428"/>
            <a:ext cx="2256115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1956 – 1971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088112" y="3657957"/>
            <a:ext cx="7941112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substituição das válvulas por transistores marcou uma transformação profunda na computação.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347121" y="503753"/>
            <a:ext cx="4332803" cy="5619155"/>
          </a:xfrm>
          <a:prstGeom prst="roundRect">
            <a:avLst>
              <a:gd name="adj" fmla="val 2999"/>
            </a:avLst>
          </a:prstGeom>
          <a:solidFill>
            <a:srgbClr val="6237C8">
              <a:alpha val="95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7500" y="665321"/>
            <a:ext cx="3972044" cy="52960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8112" y="6284476"/>
            <a:ext cx="180380" cy="225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88112" y="6568202"/>
            <a:ext cx="4055626" cy="2286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9" name="Text 6"/>
          <p:cNvSpPr/>
          <p:nvPr/>
        </p:nvSpPr>
        <p:spPr>
          <a:xfrm>
            <a:off x="1088112" y="6704052"/>
            <a:ext cx="2256115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Miniaturização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88112" y="7072074"/>
            <a:ext cx="4055626" cy="518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Redução significativa de tamanho e peso dos equipamentos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287328" y="6284476"/>
            <a:ext cx="180380" cy="225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287328" y="6568202"/>
            <a:ext cx="4055626" cy="2286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3" name="Text 10"/>
          <p:cNvSpPr/>
          <p:nvPr/>
        </p:nvSpPr>
        <p:spPr>
          <a:xfrm>
            <a:off x="5287328" y="6704052"/>
            <a:ext cx="2256115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Eficiência Energética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5287328" y="7072074"/>
            <a:ext cx="4055626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Diminuição do consumo de energia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486543" y="6284476"/>
            <a:ext cx="180380" cy="225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486543" y="6568202"/>
            <a:ext cx="4055626" cy="2286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7" name="Text 14"/>
          <p:cNvSpPr/>
          <p:nvPr/>
        </p:nvSpPr>
        <p:spPr>
          <a:xfrm>
            <a:off x="9486543" y="6704052"/>
            <a:ext cx="2500908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Linguagens de Alto Nível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9486543" y="7072074"/>
            <a:ext cx="4055626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Surgimento do COBOL e FORTRAN</a:t>
            </a:r>
            <a:endParaRPr lang="en-US" sz="1400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8B244A2-9034-46F9-B991-B67A61CDA834}"/>
              </a:ext>
            </a:extLst>
          </p:cNvPr>
          <p:cNvSpPr/>
          <p:nvPr/>
        </p:nvSpPr>
        <p:spPr>
          <a:xfrm>
            <a:off x="0" y="7680960"/>
            <a:ext cx="14630400" cy="54864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6135" y="1122164"/>
            <a:ext cx="7622024" cy="52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 Terceira Geração: Circuitos Integrados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226135" y="1729264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1964 – 1971</a:t>
            </a:r>
            <a:endParaRPr lang="en-US" sz="2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5431" y="2361367"/>
            <a:ext cx="316944" cy="3169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13007" y="2354818"/>
            <a:ext cx="297977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Miniaturização Avançada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6913007" y="2803088"/>
            <a:ext cx="6977658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Circuitos integrados reduziram tamanho e custos dos equipamentos</a:t>
            </a:r>
            <a:endParaRPr lang="en-US" sz="16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5431" y="3530084"/>
            <a:ext cx="316944" cy="3169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13007" y="3523536"/>
            <a:ext cx="3668673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Capacidade de Processamento</a:t>
            </a:r>
            <a:endParaRPr lang="en-US" sz="2050" dirty="0"/>
          </a:p>
        </p:txBody>
      </p:sp>
      <p:sp>
        <p:nvSpPr>
          <p:cNvPr id="10" name="Text 5"/>
          <p:cNvSpPr/>
          <p:nvPr/>
        </p:nvSpPr>
        <p:spPr>
          <a:xfrm>
            <a:off x="6913007" y="3971806"/>
            <a:ext cx="6977658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Aumento expressivo da velocidade de execução de operações</a:t>
            </a:r>
            <a:endParaRPr lang="en-US" sz="16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5431" y="4698802"/>
            <a:ext cx="316944" cy="3169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913007" y="4692253"/>
            <a:ext cx="3031450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Virtualização de Memória</a:t>
            </a:r>
            <a:endParaRPr lang="en-US" sz="2050" dirty="0"/>
          </a:p>
        </p:txBody>
      </p:sp>
      <p:sp>
        <p:nvSpPr>
          <p:cNvPr id="13" name="Text 7"/>
          <p:cNvSpPr/>
          <p:nvPr/>
        </p:nvSpPr>
        <p:spPr>
          <a:xfrm>
            <a:off x="6913007" y="5140523"/>
            <a:ext cx="6977658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Multiprogramação permitiu maior uso simultâneo de recursos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6226135" y="5762506"/>
            <a:ext cx="3728680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Sistema Marca Referência</a:t>
            </a:r>
            <a:endParaRPr lang="en-US" sz="2450" dirty="0"/>
          </a:p>
        </p:txBody>
      </p:sp>
      <p:sp>
        <p:nvSpPr>
          <p:cNvPr id="15" name="Text 9"/>
          <p:cNvSpPr/>
          <p:nvPr/>
        </p:nvSpPr>
        <p:spPr>
          <a:xfrm>
            <a:off x="6226135" y="6454140"/>
            <a:ext cx="7664529" cy="6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IBM System/360 (1964)</a:t>
            </a: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Família de computadores compatíveis, consolidando a computação empresarial em larga escala</a:t>
            </a:r>
            <a:endParaRPr lang="en-US" sz="1650" dirty="0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DD094BF-EB95-47EB-A3FA-24276DD89B40}"/>
              </a:ext>
            </a:extLst>
          </p:cNvPr>
          <p:cNvSpPr/>
          <p:nvPr/>
        </p:nvSpPr>
        <p:spPr>
          <a:xfrm>
            <a:off x="0" y="7680960"/>
            <a:ext cx="14630400" cy="54864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9140" y="830580"/>
            <a:ext cx="8946594" cy="527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 Quarta Geração: Era dos Microprocessadores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39140" y="1436965"/>
            <a:ext cx="3381256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1971 – Início dos Anos 2000</a:t>
            </a:r>
            <a:endParaRPr lang="en-US" sz="2050" dirty="0"/>
          </a:p>
        </p:txBody>
      </p:sp>
      <p:sp>
        <p:nvSpPr>
          <p:cNvPr id="4" name="Shape 2"/>
          <p:cNvSpPr/>
          <p:nvPr/>
        </p:nvSpPr>
        <p:spPr>
          <a:xfrm>
            <a:off x="739140" y="4006691"/>
            <a:ext cx="13152120" cy="22860"/>
          </a:xfrm>
          <a:prstGeom prst="roundRect">
            <a:avLst>
              <a:gd name="adj" fmla="val 388003"/>
            </a:avLst>
          </a:prstGeom>
          <a:solidFill>
            <a:srgbClr val="313E80"/>
          </a:solidFill>
          <a:ln/>
        </p:spPr>
      </p:sp>
      <p:sp>
        <p:nvSpPr>
          <p:cNvPr id="5" name="Shape 3"/>
          <p:cNvSpPr/>
          <p:nvPr/>
        </p:nvSpPr>
        <p:spPr>
          <a:xfrm>
            <a:off x="3284339" y="3373160"/>
            <a:ext cx="22860" cy="633532"/>
          </a:xfrm>
          <a:prstGeom prst="roundRect">
            <a:avLst>
              <a:gd name="adj" fmla="val 388003"/>
            </a:avLst>
          </a:prstGeom>
          <a:solidFill>
            <a:srgbClr val="313E80"/>
          </a:solidFill>
          <a:ln/>
        </p:spPr>
      </p:sp>
      <p:sp>
        <p:nvSpPr>
          <p:cNvPr id="6" name="Shape 4"/>
          <p:cNvSpPr/>
          <p:nvPr/>
        </p:nvSpPr>
        <p:spPr>
          <a:xfrm>
            <a:off x="3058239" y="3769162"/>
            <a:ext cx="475059" cy="475059"/>
          </a:xfrm>
          <a:prstGeom prst="roundRect">
            <a:avLst>
              <a:gd name="adj" fmla="val 18671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37416" y="3808750"/>
            <a:ext cx="316706" cy="395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1975961" y="2061805"/>
            <a:ext cx="2639735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1971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950238" y="2509599"/>
            <a:ext cx="4691182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 4004</a:t>
            </a: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Primeiro microprocessador comercial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963841" y="4006691"/>
            <a:ext cx="22860" cy="633532"/>
          </a:xfrm>
          <a:prstGeom prst="roundRect">
            <a:avLst>
              <a:gd name="adj" fmla="val 388003"/>
            </a:avLst>
          </a:prstGeom>
          <a:solidFill>
            <a:srgbClr val="313E80"/>
          </a:solidFill>
          <a:ln/>
        </p:spPr>
      </p:sp>
      <p:sp>
        <p:nvSpPr>
          <p:cNvPr id="11" name="Shape 9"/>
          <p:cNvSpPr/>
          <p:nvPr/>
        </p:nvSpPr>
        <p:spPr>
          <a:xfrm>
            <a:off x="5737741" y="3769162"/>
            <a:ext cx="475059" cy="475059"/>
          </a:xfrm>
          <a:prstGeom prst="roundRect">
            <a:avLst>
              <a:gd name="adj" fmla="val 18671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16918" y="3808750"/>
            <a:ext cx="316706" cy="395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1"/>
          <p:cNvSpPr/>
          <p:nvPr/>
        </p:nvSpPr>
        <p:spPr>
          <a:xfrm>
            <a:off x="4655463" y="4851321"/>
            <a:ext cx="2639735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1981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3629739" y="5299115"/>
            <a:ext cx="4691182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IBM PC</a:t>
            </a: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Início da era dos computadores pessoais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643461" y="3373160"/>
            <a:ext cx="22860" cy="633532"/>
          </a:xfrm>
          <a:prstGeom prst="roundRect">
            <a:avLst>
              <a:gd name="adj" fmla="val 388003"/>
            </a:avLst>
          </a:prstGeom>
          <a:solidFill>
            <a:srgbClr val="313E80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7362" y="3769162"/>
            <a:ext cx="475059" cy="475059"/>
          </a:xfrm>
          <a:prstGeom prst="roundRect">
            <a:avLst>
              <a:gd name="adj" fmla="val 18671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96538" y="3808750"/>
            <a:ext cx="316706" cy="395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6"/>
          <p:cNvSpPr/>
          <p:nvPr/>
        </p:nvSpPr>
        <p:spPr>
          <a:xfrm>
            <a:off x="7335083" y="2061805"/>
            <a:ext cx="2639735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1984</a:t>
            </a:r>
            <a:endParaRPr lang="en-US" sz="2050" dirty="0"/>
          </a:p>
        </p:txBody>
      </p:sp>
      <p:sp>
        <p:nvSpPr>
          <p:cNvPr id="19" name="Text 17"/>
          <p:cNvSpPr/>
          <p:nvPr/>
        </p:nvSpPr>
        <p:spPr>
          <a:xfrm>
            <a:off x="6309360" y="2509599"/>
            <a:ext cx="4691182" cy="652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Apple Macintosh</a:t>
            </a: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Revolução nas interfaces gráficas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1322963" y="4006691"/>
            <a:ext cx="22860" cy="633532"/>
          </a:xfrm>
          <a:prstGeom prst="roundRect">
            <a:avLst>
              <a:gd name="adj" fmla="val 388003"/>
            </a:avLst>
          </a:prstGeom>
          <a:solidFill>
            <a:srgbClr val="313E8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96863" y="3769162"/>
            <a:ext cx="475059" cy="475059"/>
          </a:xfrm>
          <a:prstGeom prst="roundRect">
            <a:avLst>
              <a:gd name="adj" fmla="val 18671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76040" y="3808750"/>
            <a:ext cx="316706" cy="395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</a:t>
            </a:r>
            <a:endParaRPr lang="en-US" sz="2450" dirty="0"/>
          </a:p>
        </p:txBody>
      </p:sp>
      <p:sp>
        <p:nvSpPr>
          <p:cNvPr id="23" name="Text 21"/>
          <p:cNvSpPr/>
          <p:nvPr/>
        </p:nvSpPr>
        <p:spPr>
          <a:xfrm>
            <a:off x="10014585" y="4851321"/>
            <a:ext cx="2639735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Anos 1990</a:t>
            </a:r>
            <a:endParaRPr lang="en-US" sz="2050" dirty="0"/>
          </a:p>
        </p:txBody>
      </p:sp>
      <p:sp>
        <p:nvSpPr>
          <p:cNvPr id="24" name="Text 22"/>
          <p:cNvSpPr/>
          <p:nvPr/>
        </p:nvSpPr>
        <p:spPr>
          <a:xfrm>
            <a:off x="8988862" y="5299115"/>
            <a:ext cx="4691182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Internet</a:t>
            </a: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Expansão conectou milhões de usuários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39140" y="6043017"/>
            <a:ext cx="2639735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 Marca de Início</a:t>
            </a:r>
            <a:endParaRPr lang="en-US" sz="2050" dirty="0"/>
          </a:p>
        </p:txBody>
      </p:sp>
      <p:sp>
        <p:nvSpPr>
          <p:cNvPr id="26" name="Text 24"/>
          <p:cNvSpPr/>
          <p:nvPr/>
        </p:nvSpPr>
        <p:spPr>
          <a:xfrm>
            <a:off x="739140" y="6569512"/>
            <a:ext cx="6318528" cy="652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Os primeiros microprocessadores de 4 bits como o Intel 4004 abriram caminho para a popularização da informática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580352" y="6043017"/>
            <a:ext cx="2639735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 Marca Estratégico</a:t>
            </a:r>
            <a:endParaRPr lang="en-US" sz="2050" dirty="0"/>
          </a:p>
        </p:txBody>
      </p:sp>
      <p:sp>
        <p:nvSpPr>
          <p:cNvPr id="28" name="Text 26"/>
          <p:cNvSpPr/>
          <p:nvPr/>
        </p:nvSpPr>
        <p:spPr>
          <a:xfrm>
            <a:off x="7580352" y="6569512"/>
            <a:ext cx="6318528" cy="652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Demonstração do potencial transformador dos microprocessadores para a vida cotidiana</a:t>
            </a:r>
            <a:endParaRPr lang="en-US" sz="1650" dirty="0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FA8D8812-AEEC-41CE-A760-B7FC67A7D439}"/>
              </a:ext>
            </a:extLst>
          </p:cNvPr>
          <p:cNvSpPr/>
          <p:nvPr/>
        </p:nvSpPr>
        <p:spPr>
          <a:xfrm>
            <a:off x="0" y="7680960"/>
            <a:ext cx="14630400" cy="54864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954" y="642818"/>
            <a:ext cx="7809548" cy="555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 Quinta Geração: Inteligência Artificial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77954" y="1285518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1980 – Atualidade</a:t>
            </a:r>
            <a:endParaRPr lang="en-US" sz="2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954" y="1959531"/>
            <a:ext cx="666869" cy="6668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954" y="2898696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Machine Learning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777954" y="3376613"/>
            <a:ext cx="6401038" cy="70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Algoritmos que aprendem com dados e melhoram com a experiência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1288" y="1959531"/>
            <a:ext cx="666869" cy="6668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1288" y="2898696"/>
            <a:ext cx="2993350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Computação em Nuvem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7451288" y="3376613"/>
            <a:ext cx="6401157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Recursos ilimitados acessíveis pela internet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954" y="4516398"/>
            <a:ext cx="666869" cy="6668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954" y="5455563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Big Data</a:t>
            </a: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777954" y="5933480"/>
            <a:ext cx="6401038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Análise de grandes volumes de informações para insights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1288" y="4516398"/>
            <a:ext cx="666869" cy="66686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51288" y="5455563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Computação Quântica</a:t>
            </a:r>
            <a:endParaRPr lang="en-US" sz="2150" dirty="0"/>
          </a:p>
        </p:txBody>
      </p:sp>
      <p:sp>
        <p:nvSpPr>
          <p:cNvPr id="15" name="Text 9"/>
          <p:cNvSpPr/>
          <p:nvPr/>
        </p:nvSpPr>
        <p:spPr>
          <a:xfrm>
            <a:off x="7451288" y="5933480"/>
            <a:ext cx="6401157" cy="70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Processamento exponencial baseado em qubits (em desenvolvimento)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777954" y="6882646"/>
            <a:ext cx="13074491" cy="70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 geração marca a transformação digital, com decisões orientadas por dados e automação cognitiva redefinindo indústrias e processos.</a:t>
            </a:r>
            <a:endParaRPr lang="en-US" sz="1750" dirty="0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5C38538-3E46-4B09-A81D-9D2AD6BFB0D5}"/>
              </a:ext>
            </a:extLst>
          </p:cNvPr>
          <p:cNvSpPr/>
          <p:nvPr/>
        </p:nvSpPr>
        <p:spPr>
          <a:xfrm>
            <a:off x="0" y="7680960"/>
            <a:ext cx="14630400" cy="54864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188" y="864394"/>
            <a:ext cx="5880973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Cinco Gerações de Transformação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743188" y="1660565"/>
            <a:ext cx="13144024" cy="28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evolução da computação percorreu um trajeto extraordinário de especialização tecnológica: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3207663" y="2120741"/>
            <a:ext cx="1642943" cy="1054656"/>
          </a:xfrm>
          <a:prstGeom prst="roundRect">
            <a:avLst>
              <a:gd name="adj" fmla="val 7586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5249" y="2514124"/>
            <a:ext cx="267772" cy="2677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40987" y="2311122"/>
            <a:ext cx="238113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Miniaturização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040987" y="2704743"/>
            <a:ext cx="2830354" cy="28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Componentes de válvulas a chips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945737" y="3165872"/>
            <a:ext cx="8846344" cy="11430"/>
          </a:xfrm>
          <a:prstGeom prst="roundRect">
            <a:avLst>
              <a:gd name="adj" fmla="val 699974"/>
            </a:avLst>
          </a:prstGeom>
          <a:solidFill>
            <a:srgbClr val="313E80"/>
          </a:solidFill>
          <a:ln/>
        </p:spPr>
      </p:sp>
      <p:sp>
        <p:nvSpPr>
          <p:cNvPr id="9" name="Shape 6"/>
          <p:cNvSpPr/>
          <p:nvPr/>
        </p:nvSpPr>
        <p:spPr>
          <a:xfrm>
            <a:off x="2386132" y="3270528"/>
            <a:ext cx="3286006" cy="1054656"/>
          </a:xfrm>
          <a:prstGeom prst="roundRect">
            <a:avLst>
              <a:gd name="adj" fmla="val 7586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5249" y="3663910"/>
            <a:ext cx="267772" cy="2677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62518" y="3460909"/>
            <a:ext cx="238113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Capacidade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5862518" y="3854529"/>
            <a:ext cx="4424243" cy="28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Duplicação exponencial de poder de processamento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767268" y="4315658"/>
            <a:ext cx="8024812" cy="11430"/>
          </a:xfrm>
          <a:prstGeom prst="roundRect">
            <a:avLst>
              <a:gd name="adj" fmla="val 699974"/>
            </a:avLst>
          </a:prstGeom>
          <a:solidFill>
            <a:srgbClr val="313E80"/>
          </a:solidFill>
          <a:ln/>
        </p:spPr>
      </p:sp>
      <p:sp>
        <p:nvSpPr>
          <p:cNvPr id="14" name="Shape 10"/>
          <p:cNvSpPr/>
          <p:nvPr/>
        </p:nvSpPr>
        <p:spPr>
          <a:xfrm>
            <a:off x="1564600" y="4420314"/>
            <a:ext cx="4928949" cy="1054656"/>
          </a:xfrm>
          <a:prstGeom prst="roundRect">
            <a:avLst>
              <a:gd name="adj" fmla="val 7586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95130" y="4813697"/>
            <a:ext cx="267772" cy="2677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83931" y="4610695"/>
            <a:ext cx="238113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Redução de Custos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6683931" y="5004316"/>
            <a:ext cx="2911912" cy="28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Ampliação do acesso à tecnologia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588681" y="5465445"/>
            <a:ext cx="7203400" cy="11430"/>
          </a:xfrm>
          <a:prstGeom prst="roundRect">
            <a:avLst>
              <a:gd name="adj" fmla="val 699974"/>
            </a:avLst>
          </a:prstGeom>
          <a:solidFill>
            <a:srgbClr val="313E80"/>
          </a:solidFill>
          <a:ln/>
        </p:spPr>
      </p:sp>
      <p:sp>
        <p:nvSpPr>
          <p:cNvPr id="19" name="Shape 14"/>
          <p:cNvSpPr/>
          <p:nvPr/>
        </p:nvSpPr>
        <p:spPr>
          <a:xfrm>
            <a:off x="743188" y="5570101"/>
            <a:ext cx="6572012" cy="1054656"/>
          </a:xfrm>
          <a:prstGeom prst="roundRect">
            <a:avLst>
              <a:gd name="adj" fmla="val 7586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95249" y="5963483"/>
            <a:ext cx="267772" cy="2677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05581" y="5760482"/>
            <a:ext cx="238113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Democratização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7505581" y="6154103"/>
            <a:ext cx="5168979" cy="28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 ambiente militar-acadêmico ao ecossistema digital global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43188" y="6804660"/>
            <a:ext cx="13144024" cy="560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computação evoluiu de equipamentos restritos a ambientes militares e acadêmicos para um ecossistema global orientado por inteligência artificial e integração massiva de dados.</a:t>
            </a:r>
            <a:endParaRPr lang="en-US" sz="1450" dirty="0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691F2A1-4EFB-4407-9A24-A0365C84BD45}"/>
              </a:ext>
            </a:extLst>
          </p:cNvPr>
          <p:cNvSpPr/>
          <p:nvPr/>
        </p:nvSpPr>
        <p:spPr>
          <a:xfrm>
            <a:off x="0" y="7680960"/>
            <a:ext cx="14630400" cy="54864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475</Words>
  <Application>Microsoft Office PowerPoint</Application>
  <PresentationFormat>Personalizar</PresentationFormat>
  <Paragraphs>85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Roboto</vt:lpstr>
      <vt:lpstr>Roboto Light</vt:lpstr>
      <vt:lpstr>Arial</vt:lpstr>
      <vt:lpstr>Roboto Medium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lastModifiedBy>Gustavo de Abreu Becker</cp:lastModifiedBy>
  <cp:revision>2</cp:revision>
  <dcterms:created xsi:type="dcterms:W3CDTF">2026-02-19T23:20:30Z</dcterms:created>
  <dcterms:modified xsi:type="dcterms:W3CDTF">2026-02-19T23:23:03Z</dcterms:modified>
</cp:coreProperties>
</file>