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Sabon Italics" charset="1" panose="02020502050506090303"/>
      <p:regular r:id="rId14"/>
    </p:embeddedFont>
    <p:embeddedFont>
      <p:font typeface="Migra Ultra-Bold Italics" charset="1" panose="00000900000000000000"/>
      <p:regular r:id="rId15"/>
    </p:embeddedFont>
    <p:embeddedFont>
      <p:font typeface="Open Sauce Bold Italics" charset="1" panose="00000800000000000000"/>
      <p:regular r:id="rId16"/>
    </p:embeddedFont>
    <p:embeddedFont>
      <p:font typeface="Open Sauce Italics" charset="1" panose="000005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897380"/>
            <a:ext cx="18288000" cy="12184380"/>
          </a:xfrm>
          <a:custGeom>
            <a:avLst/>
            <a:gdLst/>
            <a:ahLst/>
            <a:cxnLst/>
            <a:rect r="r" b="b" t="t" l="l"/>
            <a:pathLst>
              <a:path h="12184380" w="1828800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8441608"/>
            <a:ext cx="4099345" cy="1301542"/>
          </a:xfrm>
          <a:custGeom>
            <a:avLst/>
            <a:gdLst/>
            <a:ahLst/>
            <a:cxnLst/>
            <a:rect r="r" b="b" t="t" l="l"/>
            <a:pathLst>
              <a:path h="1301542" w="4099345">
                <a:moveTo>
                  <a:pt x="0" y="0"/>
                </a:moveTo>
                <a:lnTo>
                  <a:pt x="4099345" y="0"/>
                </a:lnTo>
                <a:lnTo>
                  <a:pt x="4099345" y="1301542"/>
                </a:lnTo>
                <a:lnTo>
                  <a:pt x="0" y="13015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379688" y="4325534"/>
            <a:ext cx="9528625" cy="2099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09"/>
              </a:lnSpc>
            </a:pPr>
            <a:r>
              <a:rPr lang="en-US" sz="3486" i="true" spc="523">
                <a:solidFill>
                  <a:srgbClr val="FFFFFF"/>
                </a:solidFill>
                <a:latin typeface="Sabon Italics"/>
                <a:ea typeface="Sabon Italics"/>
                <a:cs typeface="Sabon Italics"/>
                <a:sym typeface="Sabon Italics"/>
              </a:rPr>
              <a:t>O QUE É/COMO FUNCIONA</a:t>
            </a:r>
          </a:p>
          <a:p>
            <a:pPr algn="ctr">
              <a:lnSpc>
                <a:spcPts val="4009"/>
              </a:lnSpc>
            </a:pPr>
            <a:r>
              <a:rPr lang="en-US" sz="3486" i="true" spc="523">
                <a:solidFill>
                  <a:srgbClr val="FFFFFF"/>
                </a:solidFill>
                <a:latin typeface="Sabon Italics"/>
                <a:ea typeface="Sabon Italics"/>
                <a:cs typeface="Sabon Italics"/>
                <a:sym typeface="Sabon Italics"/>
              </a:rPr>
              <a:t>DIFERENÇAS DOS PCS ATUAIS</a:t>
            </a:r>
          </a:p>
          <a:p>
            <a:pPr algn="ctr">
              <a:lnSpc>
                <a:spcPts val="4009"/>
              </a:lnSpc>
            </a:pPr>
            <a:r>
              <a:rPr lang="en-US" sz="3486" i="true" spc="523">
                <a:solidFill>
                  <a:srgbClr val="FFFFFF"/>
                </a:solidFill>
                <a:latin typeface="Sabon Italics"/>
                <a:ea typeface="Sabon Italics"/>
                <a:cs typeface="Sabon Italics"/>
                <a:sym typeface="Sabon Italics"/>
              </a:rPr>
              <a:t>ONDE PODE SER APLICADO </a:t>
            </a:r>
          </a:p>
          <a:p>
            <a:pPr algn="ctr">
              <a:lnSpc>
                <a:spcPts val="4009"/>
              </a:lnSpc>
            </a:pPr>
            <a:r>
              <a:rPr lang="en-US" sz="3486" i="true" spc="523">
                <a:solidFill>
                  <a:srgbClr val="FFFFFF"/>
                </a:solidFill>
                <a:latin typeface="Sabon Italics"/>
                <a:ea typeface="Sabon Italics"/>
                <a:cs typeface="Sabon Italics"/>
                <a:sym typeface="Sabon Italics"/>
              </a:rPr>
              <a:t>VANTAGENS E GANHOS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5486400" y="6902924"/>
            <a:ext cx="7315200" cy="651718"/>
          </a:xfrm>
          <a:custGeom>
            <a:avLst/>
            <a:gdLst/>
            <a:ahLst/>
            <a:cxnLst/>
            <a:rect r="r" b="b" t="t" l="l"/>
            <a:pathLst>
              <a:path h="651718" w="7315200">
                <a:moveTo>
                  <a:pt x="0" y="0"/>
                </a:moveTo>
                <a:lnTo>
                  <a:pt x="7315200" y="0"/>
                </a:lnTo>
                <a:lnTo>
                  <a:pt x="7315200" y="651717"/>
                </a:lnTo>
                <a:lnTo>
                  <a:pt x="0" y="6517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008597" y="8554687"/>
            <a:ext cx="13124111" cy="980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9"/>
              </a:lnSpc>
            </a:pPr>
            <a:r>
              <a:rPr lang="en-US" sz="5852" i="true" spc="877">
                <a:solidFill>
                  <a:srgbClr val="5DB2E7"/>
                </a:solidFill>
                <a:latin typeface="Sabon Italics"/>
                <a:ea typeface="Sabon Italics"/>
                <a:cs typeface="Sabon Italics"/>
                <a:sym typeface="Sabon Italics"/>
              </a:rPr>
              <a:t>CIRCUITOS DIGITAIS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81945" y="1104205"/>
            <a:ext cx="13124111" cy="3278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87"/>
              </a:lnSpc>
            </a:pPr>
            <a:r>
              <a:rPr lang="en-US" b="true" sz="16278" i="true">
                <a:solidFill>
                  <a:srgbClr val="8B61C2"/>
                </a:solidFill>
                <a:latin typeface="Migra Ultra-Bold Italics"/>
                <a:ea typeface="Migra Ultra-Bold Italics"/>
                <a:cs typeface="Migra Ultra-Bold Italics"/>
                <a:sym typeface="Migra Ultra-Bold Italics"/>
              </a:rPr>
              <a:t> </a:t>
            </a:r>
            <a:r>
              <a:rPr lang="en-US" b="true" sz="16278" i="true">
                <a:solidFill>
                  <a:srgbClr val="5DB2E7"/>
                </a:solidFill>
                <a:latin typeface="Migra Ultra-Bold Italics"/>
                <a:ea typeface="Migra Ultra-Bold Italics"/>
                <a:cs typeface="Migra Ultra-Bold Italics"/>
                <a:sym typeface="Migra Ultra-Bold Italics"/>
              </a:rPr>
              <a:t>COMPUTAÇÃO</a:t>
            </a:r>
          </a:p>
          <a:p>
            <a:pPr algn="ctr">
              <a:lnSpc>
                <a:spcPts val="9713"/>
              </a:lnSpc>
            </a:pPr>
            <a:r>
              <a:rPr lang="en-US" b="true" sz="10913" i="true">
                <a:solidFill>
                  <a:srgbClr val="FFFFFF"/>
                </a:solidFill>
                <a:latin typeface="Migra Ultra-Bold Italics"/>
                <a:ea typeface="Migra Ultra-Bold Italics"/>
                <a:cs typeface="Migra Ultra-Bold Italics"/>
                <a:sym typeface="Migra Ultra-Bold Italics"/>
              </a:rPr>
              <a:t>NEUROMÓRFICA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857" y="0"/>
            <a:ext cx="18288000" cy="12184380"/>
          </a:xfrm>
          <a:custGeom>
            <a:avLst/>
            <a:gdLst/>
            <a:ahLst/>
            <a:cxnLst/>
            <a:rect r="r" b="b" t="t" l="l"/>
            <a:pathLst>
              <a:path h="12184380" w="1828800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692121"/>
            <a:ext cx="16252313" cy="1558043"/>
            <a:chOff x="0" y="0"/>
            <a:chExt cx="21669751" cy="207739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95728" cy="2077390"/>
            </a:xfrm>
            <a:custGeom>
              <a:avLst/>
              <a:gdLst/>
              <a:ahLst/>
              <a:cxnLst/>
              <a:rect r="r" b="b" t="t" l="l"/>
              <a:pathLst>
                <a:path h="2077390" w="2095728">
                  <a:moveTo>
                    <a:pt x="0" y="0"/>
                  </a:moveTo>
                  <a:lnTo>
                    <a:pt x="2095728" y="0"/>
                  </a:lnTo>
                  <a:lnTo>
                    <a:pt x="2095728" y="2077390"/>
                  </a:lnTo>
                  <a:lnTo>
                    <a:pt x="0" y="20773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2622345" y="353521"/>
              <a:ext cx="19047406" cy="12750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729"/>
                </a:lnSpc>
              </a:pPr>
              <a:r>
                <a:rPr lang="en-US" sz="5852" i="true" spc="877">
                  <a:solidFill>
                    <a:srgbClr val="FFFFFF"/>
                  </a:solidFill>
                  <a:latin typeface="Sabon Italics"/>
                  <a:ea typeface="Sabon Italics"/>
                  <a:cs typeface="Sabon Italics"/>
                  <a:sym typeface="Sabon Italics"/>
                </a:rPr>
                <a:t>O QUE É / COMO FUNCIONA?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312843" y="2923436"/>
            <a:ext cx="13124111" cy="1244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9"/>
              </a:lnSpc>
            </a:pPr>
            <a:r>
              <a:rPr lang="en-US" sz="3999" i="true" spc="599">
                <a:solidFill>
                  <a:srgbClr val="FFFFFF"/>
                </a:solidFill>
                <a:latin typeface="Sabon Italics"/>
                <a:ea typeface="Sabon Italics"/>
                <a:cs typeface="Sabon Italics"/>
                <a:sym typeface="Sabon Italics"/>
              </a:rPr>
              <a:t>É UMA FORMA DE </a:t>
            </a:r>
            <a:r>
              <a:rPr lang="en-US" sz="3999" i="true" spc="599">
                <a:solidFill>
                  <a:srgbClr val="5DB2E7"/>
                </a:solidFill>
                <a:latin typeface="Sabon Italics"/>
                <a:ea typeface="Sabon Italics"/>
                <a:cs typeface="Sabon Italics"/>
                <a:sym typeface="Sabon Italics"/>
              </a:rPr>
              <a:t>COMPUTAÇÃO </a:t>
            </a:r>
            <a:r>
              <a:rPr lang="en-US" sz="3999" i="true" spc="599">
                <a:solidFill>
                  <a:srgbClr val="FFFFFF"/>
                </a:solidFill>
                <a:latin typeface="Sabon Italics"/>
                <a:ea typeface="Sabon Italics"/>
                <a:cs typeface="Sabon Italics"/>
                <a:sym typeface="Sabon Italics"/>
              </a:rPr>
              <a:t>INSPIRADA NO CÉREBRO HUMANO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137969" y="4844311"/>
            <a:ext cx="13858902" cy="182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99"/>
              </a:lnSpc>
            </a:pPr>
            <a:r>
              <a:rPr lang="en-US" sz="3999" i="true" spc="599">
                <a:solidFill>
                  <a:srgbClr val="FFFFFF"/>
                </a:solidFill>
                <a:latin typeface="Sabon Italics"/>
                <a:ea typeface="Sabon Italics"/>
                <a:cs typeface="Sabon Italics"/>
                <a:sym typeface="Sabon Italics"/>
              </a:rPr>
              <a:t>USA </a:t>
            </a:r>
            <a:r>
              <a:rPr lang="en-US" sz="3999" i="true" spc="599">
                <a:solidFill>
                  <a:srgbClr val="5DB2E7"/>
                </a:solidFill>
                <a:latin typeface="Sabon Italics"/>
                <a:ea typeface="Sabon Italics"/>
                <a:cs typeface="Sabon Italics"/>
                <a:sym typeface="Sabon Italics"/>
              </a:rPr>
              <a:t>“NEURÔNIOS”</a:t>
            </a:r>
            <a:r>
              <a:rPr lang="en-US" sz="3999" i="true" spc="599">
                <a:solidFill>
                  <a:srgbClr val="FFFFFF"/>
                </a:solidFill>
                <a:latin typeface="Sabon Italics"/>
                <a:ea typeface="Sabon Italics"/>
                <a:cs typeface="Sabon Italics"/>
                <a:sym typeface="Sabon Italics"/>
              </a:rPr>
              <a:t> E </a:t>
            </a:r>
            <a:r>
              <a:rPr lang="en-US" sz="3999" i="true" spc="599">
                <a:solidFill>
                  <a:srgbClr val="5DB2E7"/>
                </a:solidFill>
                <a:latin typeface="Sabon Italics"/>
                <a:ea typeface="Sabon Italics"/>
                <a:cs typeface="Sabon Italics"/>
                <a:sym typeface="Sabon Italics"/>
              </a:rPr>
              <a:t>“SINAPSES”</a:t>
            </a:r>
            <a:r>
              <a:rPr lang="en-US" sz="3999" i="true" spc="599">
                <a:solidFill>
                  <a:srgbClr val="FFFFFF"/>
                </a:solidFill>
                <a:latin typeface="Sabon Italics"/>
                <a:ea typeface="Sabon Italics"/>
                <a:cs typeface="Sabon Italics"/>
                <a:sym typeface="Sabon Italics"/>
              </a:rPr>
              <a:t> ARTIFICIAIS EM CHIPS, PROCESSANDO VÁRIAS INFORMAÇÕES AO MESMO TEMPO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12843" y="7387572"/>
            <a:ext cx="15684028" cy="182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9"/>
              </a:lnSpc>
            </a:pPr>
            <a:r>
              <a:rPr lang="en-US" sz="3999" i="true" spc="599">
                <a:solidFill>
                  <a:srgbClr val="FFFFFF"/>
                </a:solidFill>
                <a:latin typeface="Sabon Italics"/>
                <a:ea typeface="Sabon Italics"/>
                <a:cs typeface="Sabon Italics"/>
                <a:sym typeface="Sabon Italics"/>
              </a:rPr>
              <a:t>TEM COMO OBJETIVO CRIAR SISTEMAS QUE APRENDEM E SE ADAPTAM DE FORMA NATURAL, COM </a:t>
            </a:r>
            <a:r>
              <a:rPr lang="en-US" sz="3999" i="true" spc="599">
                <a:solidFill>
                  <a:srgbClr val="5DB2E7"/>
                </a:solidFill>
                <a:latin typeface="Sabon Italics"/>
                <a:ea typeface="Sabon Italics"/>
                <a:cs typeface="Sabon Italics"/>
                <a:sym typeface="Sabon Italics"/>
              </a:rPr>
              <a:t>BAIXO CONSUMO DE ENERGIA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-1445879" y="5134927"/>
            <a:ext cx="4099345" cy="1301542"/>
          </a:xfrm>
          <a:custGeom>
            <a:avLst/>
            <a:gdLst/>
            <a:ahLst/>
            <a:cxnLst/>
            <a:rect r="r" b="b" t="t" l="l"/>
            <a:pathLst>
              <a:path h="1301542" w="4099345">
                <a:moveTo>
                  <a:pt x="0" y="0"/>
                </a:moveTo>
                <a:lnTo>
                  <a:pt x="4099345" y="0"/>
                </a:lnTo>
                <a:lnTo>
                  <a:pt x="4099345" y="1301542"/>
                </a:lnTo>
                <a:lnTo>
                  <a:pt x="0" y="13015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857" y="0"/>
            <a:ext cx="18288000" cy="12184380"/>
          </a:xfrm>
          <a:custGeom>
            <a:avLst/>
            <a:gdLst/>
            <a:ahLst/>
            <a:cxnLst/>
            <a:rect r="r" b="b" t="t" l="l"/>
            <a:pathLst>
              <a:path h="12184380" w="1828800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115984"/>
            <a:ext cx="1571796" cy="1558043"/>
          </a:xfrm>
          <a:custGeom>
            <a:avLst/>
            <a:gdLst/>
            <a:ahLst/>
            <a:cxnLst/>
            <a:rect r="r" b="b" t="t" l="l"/>
            <a:pathLst>
              <a:path h="1558043" w="1571796">
                <a:moveTo>
                  <a:pt x="0" y="0"/>
                </a:moveTo>
                <a:lnTo>
                  <a:pt x="1571796" y="0"/>
                </a:lnTo>
                <a:lnTo>
                  <a:pt x="1571796" y="1558043"/>
                </a:lnTo>
                <a:lnTo>
                  <a:pt x="0" y="15580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995459" y="933450"/>
            <a:ext cx="14285555" cy="1827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9"/>
              </a:lnSpc>
            </a:pPr>
            <a:r>
              <a:rPr lang="en-US" sz="5852" i="true" spc="877">
                <a:solidFill>
                  <a:srgbClr val="FFFFFF"/>
                </a:solidFill>
                <a:latin typeface="Sabon Italics"/>
                <a:ea typeface="Sabon Italics"/>
                <a:cs typeface="Sabon Italics"/>
                <a:sym typeface="Sabon Italics"/>
              </a:rPr>
              <a:t>DIFERENÇA EM RELAÇÃO AOS COMPUTADORES ATUAIS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048523"/>
            <a:ext cx="12543389" cy="2281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6"/>
              </a:lnSpc>
            </a:pPr>
            <a:r>
              <a:rPr lang="en-US" sz="3823" i="true" spc="573">
                <a:solidFill>
                  <a:srgbClr val="5DB2E7"/>
                </a:solidFill>
                <a:latin typeface="Sabon Italics"/>
                <a:ea typeface="Sabon Italics"/>
                <a:cs typeface="Sabon Italics"/>
                <a:sym typeface="Sabon Italics"/>
              </a:rPr>
              <a:t>ARQUITETURA TRADICIONAL:</a:t>
            </a:r>
            <a:r>
              <a:rPr lang="en-US" sz="3823" i="true" spc="573">
                <a:solidFill>
                  <a:srgbClr val="FFFFFF"/>
                </a:solidFill>
                <a:latin typeface="Sabon Italics"/>
                <a:ea typeface="Sabon Italics"/>
                <a:cs typeface="Sabon Italics"/>
                <a:sym typeface="Sabon Italics"/>
              </a:rPr>
              <a:t> PC’S USAM A ARQUITETURA DE VON NEUMANN (PROCESSADOR SEPARADO DA MEMÓRIA).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422111" y="5606449"/>
            <a:ext cx="13858902" cy="182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99"/>
              </a:lnSpc>
            </a:pPr>
            <a:r>
              <a:rPr lang="en-US" sz="3999" i="true" spc="599">
                <a:solidFill>
                  <a:srgbClr val="5DB2E7"/>
                </a:solidFill>
                <a:latin typeface="Sabon Italics"/>
                <a:ea typeface="Sabon Italics"/>
                <a:cs typeface="Sabon Italics"/>
                <a:sym typeface="Sabon Italics"/>
              </a:rPr>
              <a:t>ARQUITETURA NEUROMÓRFICA:</a:t>
            </a:r>
            <a:r>
              <a:rPr lang="en-US" sz="3999" i="true" spc="599">
                <a:solidFill>
                  <a:srgbClr val="FFFFFF"/>
                </a:solidFill>
                <a:latin typeface="Sabon Italics"/>
                <a:ea typeface="Sabon Italics"/>
                <a:cs typeface="Sabon Italics"/>
                <a:sym typeface="Sabon Italics"/>
              </a:rPr>
              <a:t> INTEGRA MEMÓRIA E PROCESSAMENTO, COMO O CÉREBRO.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7708299"/>
            <a:ext cx="15684028" cy="182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9"/>
              </a:lnSpc>
            </a:pPr>
            <a:r>
              <a:rPr lang="en-US" sz="3999" i="true" spc="599">
                <a:solidFill>
                  <a:srgbClr val="5DB2E7"/>
                </a:solidFill>
                <a:latin typeface="Sabon Italics"/>
                <a:ea typeface="Sabon Italics"/>
                <a:cs typeface="Sabon Italics"/>
                <a:sym typeface="Sabon Italics"/>
              </a:rPr>
              <a:t>IMPACTO:</a:t>
            </a:r>
            <a:r>
              <a:rPr lang="en-US" sz="3999" i="true" spc="599">
                <a:solidFill>
                  <a:srgbClr val="FFFFFF"/>
                </a:solidFill>
                <a:latin typeface="Sabon Italics"/>
                <a:ea typeface="Sabon Italics"/>
                <a:cs typeface="Sabon Italics"/>
                <a:sym typeface="Sabon Italics"/>
              </a:rPr>
              <a:t> MAIOR EFICIÊNCIA EM TAREFAS ESPECÍFICAS, COMO RECONHECIMENTO DE PADRÕES, E MENOR GASTO DE ENERGIA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857" y="0"/>
            <a:ext cx="18288000" cy="12184380"/>
          </a:xfrm>
          <a:custGeom>
            <a:avLst/>
            <a:gdLst/>
            <a:ahLst/>
            <a:cxnLst/>
            <a:rect r="r" b="b" t="t" l="l"/>
            <a:pathLst>
              <a:path h="12184380" w="1828800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779405"/>
            <a:ext cx="1571796" cy="1558043"/>
          </a:xfrm>
          <a:custGeom>
            <a:avLst/>
            <a:gdLst/>
            <a:ahLst/>
            <a:cxnLst/>
            <a:rect r="r" b="b" t="t" l="l"/>
            <a:pathLst>
              <a:path h="1558043" w="1571796">
                <a:moveTo>
                  <a:pt x="0" y="0"/>
                </a:moveTo>
                <a:lnTo>
                  <a:pt x="1571796" y="0"/>
                </a:lnTo>
                <a:lnTo>
                  <a:pt x="1571796" y="1558043"/>
                </a:lnTo>
                <a:lnTo>
                  <a:pt x="0" y="15580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872306" y="1020734"/>
            <a:ext cx="14285555" cy="980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9"/>
              </a:lnSpc>
            </a:pPr>
            <a:r>
              <a:rPr lang="en-US" sz="5852" i="true" spc="877">
                <a:solidFill>
                  <a:srgbClr val="FFFFFF"/>
                </a:solidFill>
                <a:latin typeface="Sabon Italics"/>
                <a:ea typeface="Sabon Italics"/>
                <a:cs typeface="Sabon Italics"/>
                <a:sym typeface="Sabon Italics"/>
              </a:rPr>
              <a:t>ONDE PODE SER APLICADO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76196" y="2717632"/>
            <a:ext cx="12543389" cy="1729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6"/>
              </a:lnSpc>
            </a:pPr>
            <a:r>
              <a:rPr lang="en-US" sz="3823" i="true" spc="573">
                <a:solidFill>
                  <a:srgbClr val="5DB2E7"/>
                </a:solidFill>
                <a:latin typeface="Sabon Italics"/>
                <a:ea typeface="Sabon Italics"/>
                <a:cs typeface="Sabon Italics"/>
                <a:sym typeface="Sabon Italics"/>
              </a:rPr>
              <a:t>INTELIGÊNCIA ARTIFICIAL:</a:t>
            </a:r>
            <a:r>
              <a:rPr lang="en-US" sz="3823" i="true" spc="573">
                <a:solidFill>
                  <a:srgbClr val="8B61C2"/>
                </a:solidFill>
                <a:latin typeface="Sabon Italics"/>
                <a:ea typeface="Sabon Italics"/>
                <a:cs typeface="Sabon Italics"/>
                <a:sym typeface="Sabon Italics"/>
              </a:rPr>
              <a:t> </a:t>
            </a:r>
            <a:r>
              <a:rPr lang="en-US" sz="3823" i="true" spc="573">
                <a:solidFill>
                  <a:srgbClr val="FFFFFF"/>
                </a:solidFill>
                <a:latin typeface="Sabon Italics"/>
                <a:ea typeface="Sabon Italics"/>
                <a:cs typeface="Sabon Italics"/>
                <a:sym typeface="Sabon Italics"/>
              </a:rPr>
              <a:t>RECONHECIMENTO DE IMAGENS, SONS E PADRÕES.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891312" y="4399258"/>
            <a:ext cx="12543389" cy="1729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96"/>
              </a:lnSpc>
            </a:pPr>
            <a:r>
              <a:rPr lang="en-US" sz="3823" i="true" spc="573">
                <a:solidFill>
                  <a:srgbClr val="5DB2E7"/>
                </a:solidFill>
                <a:latin typeface="Sabon Italics"/>
                <a:ea typeface="Sabon Italics"/>
                <a:cs typeface="Sabon Italics"/>
                <a:sym typeface="Sabon Italics"/>
              </a:rPr>
              <a:t>ROBÓTICA:</a:t>
            </a:r>
            <a:r>
              <a:rPr lang="en-US" sz="3823" i="true" spc="573">
                <a:solidFill>
                  <a:srgbClr val="8B61C2"/>
                </a:solidFill>
                <a:latin typeface="Sabon Italics"/>
                <a:ea typeface="Sabon Italics"/>
                <a:cs typeface="Sabon Italics"/>
                <a:sym typeface="Sabon Italics"/>
              </a:rPr>
              <a:t> </a:t>
            </a:r>
            <a:r>
              <a:rPr lang="en-US" sz="3823" i="true" spc="573">
                <a:solidFill>
                  <a:srgbClr val="FFFFFF"/>
                </a:solidFill>
                <a:latin typeface="Sabon Italics"/>
                <a:ea typeface="Sabon Italics"/>
                <a:cs typeface="Sabon Italics"/>
                <a:sym typeface="Sabon Italics"/>
              </a:rPr>
              <a:t>TOMADA DE DECISÃO RÁPIDA E CONTROLE MOTOR EFICIENTE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76196" y="6223102"/>
            <a:ext cx="12543389" cy="1176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6"/>
              </a:lnSpc>
            </a:pPr>
            <a:r>
              <a:rPr lang="en-US" sz="3823" i="true" spc="573">
                <a:solidFill>
                  <a:srgbClr val="5DB2E7"/>
                </a:solidFill>
                <a:latin typeface="Sabon Italics"/>
                <a:ea typeface="Sabon Italics"/>
                <a:cs typeface="Sabon Italics"/>
                <a:sym typeface="Sabon Italics"/>
              </a:rPr>
              <a:t>IOT: </a:t>
            </a:r>
            <a:r>
              <a:rPr lang="en-US" sz="3823" i="true" spc="573">
                <a:solidFill>
                  <a:srgbClr val="FFFFFF"/>
                </a:solidFill>
                <a:latin typeface="Sabon Italics"/>
                <a:ea typeface="Sabon Italics"/>
                <a:cs typeface="Sabon Italics"/>
                <a:sym typeface="Sabon Italics"/>
              </a:rPr>
              <a:t>SENSORES INTELIGENTES COM BAIXÍSSIMO CONSUMO DE ENERGIA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891312" y="7972060"/>
            <a:ext cx="12543389" cy="1176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96"/>
              </a:lnSpc>
            </a:pPr>
            <a:r>
              <a:rPr lang="en-US" sz="3823" i="true" spc="573">
                <a:solidFill>
                  <a:srgbClr val="5DB2E7"/>
                </a:solidFill>
                <a:latin typeface="Sabon Italics"/>
                <a:ea typeface="Sabon Italics"/>
                <a:cs typeface="Sabon Italics"/>
                <a:sym typeface="Sabon Italics"/>
              </a:rPr>
              <a:t>SAÚDE E CIÊNCIA:</a:t>
            </a:r>
            <a:r>
              <a:rPr lang="en-US" sz="3823" i="true" spc="573">
                <a:solidFill>
                  <a:srgbClr val="8B61C2"/>
                </a:solidFill>
                <a:latin typeface="Sabon Italics"/>
                <a:ea typeface="Sabon Italics"/>
                <a:cs typeface="Sabon Italics"/>
                <a:sym typeface="Sabon Italics"/>
              </a:rPr>
              <a:t> </a:t>
            </a:r>
            <a:r>
              <a:rPr lang="en-US" sz="3823" i="true" spc="573">
                <a:solidFill>
                  <a:srgbClr val="FFFFFF"/>
                </a:solidFill>
                <a:latin typeface="Sabon Italics"/>
                <a:ea typeface="Sabon Italics"/>
                <a:cs typeface="Sabon Italics"/>
                <a:sym typeface="Sabon Italics"/>
              </a:rPr>
              <a:t>MODELAGEM DO CÉREBRO E APOIO EM DIAGNÓSTICOS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857" y="0"/>
            <a:ext cx="18288000" cy="12184380"/>
          </a:xfrm>
          <a:custGeom>
            <a:avLst/>
            <a:gdLst/>
            <a:ahLst/>
            <a:cxnLst/>
            <a:rect r="r" b="b" t="t" l="l"/>
            <a:pathLst>
              <a:path h="12184380" w="1828800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423861"/>
            <a:ext cx="1571796" cy="1558043"/>
          </a:xfrm>
          <a:custGeom>
            <a:avLst/>
            <a:gdLst/>
            <a:ahLst/>
            <a:cxnLst/>
            <a:rect r="r" b="b" t="t" l="l"/>
            <a:pathLst>
              <a:path h="1558043" w="1571796">
                <a:moveTo>
                  <a:pt x="0" y="0"/>
                </a:moveTo>
                <a:lnTo>
                  <a:pt x="1571796" y="0"/>
                </a:lnTo>
                <a:lnTo>
                  <a:pt x="1571796" y="1558043"/>
                </a:lnTo>
                <a:lnTo>
                  <a:pt x="0" y="15580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145015" y="4024511"/>
            <a:ext cx="13114285" cy="1535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886"/>
              </a:lnSpc>
            </a:pPr>
            <a:r>
              <a:rPr lang="en-US" sz="3379" i="true" spc="506">
                <a:solidFill>
                  <a:srgbClr val="5DB2E7"/>
                </a:solidFill>
                <a:latin typeface="Sabon Italics"/>
                <a:ea typeface="Sabon Italics"/>
                <a:cs typeface="Sabon Italics"/>
                <a:sym typeface="Sabon Italics"/>
              </a:rPr>
              <a:t>PROCESSAMENTO ASSÍNCRONO:</a:t>
            </a:r>
            <a:r>
              <a:rPr lang="en-US" sz="3379" i="true" spc="506">
                <a:solidFill>
                  <a:srgbClr val="8B61C2"/>
                </a:solidFill>
                <a:latin typeface="Sabon Italics"/>
                <a:ea typeface="Sabon Italics"/>
                <a:cs typeface="Sabon Italics"/>
                <a:sym typeface="Sabon Italics"/>
              </a:rPr>
              <a:t> </a:t>
            </a:r>
            <a:r>
              <a:rPr lang="en-US" sz="3379" i="true" spc="506">
                <a:solidFill>
                  <a:srgbClr val="FFFFFF"/>
                </a:solidFill>
                <a:latin typeface="Sabon Italics"/>
                <a:ea typeface="Sabon Italics"/>
                <a:cs typeface="Sabon Italics"/>
                <a:sym typeface="Sabon Italics"/>
              </a:rPr>
              <a:t>CONSEGUEM LIDAR COM VÁRIAS INFORMAÇÕE E PROCESSOS AO MESMO TEMPO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872306" y="665190"/>
            <a:ext cx="14285555" cy="980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9"/>
              </a:lnSpc>
            </a:pPr>
            <a:r>
              <a:rPr lang="en-US" sz="5852" i="true" spc="877">
                <a:solidFill>
                  <a:srgbClr val="FFFFFF"/>
                </a:solidFill>
                <a:latin typeface="Sabon Italics"/>
                <a:ea typeface="Sabon Italics"/>
                <a:cs typeface="Sabon Italics"/>
                <a:sym typeface="Sabon Italics"/>
              </a:rPr>
              <a:t>VANTEGENS E GANHOS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391113"/>
            <a:ext cx="14546976" cy="1555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3"/>
              </a:lnSpc>
            </a:pPr>
            <a:r>
              <a:rPr lang="en-US" sz="3420" i="true" spc="513">
                <a:solidFill>
                  <a:srgbClr val="5DB2E7"/>
                </a:solidFill>
                <a:latin typeface="Sabon Italics"/>
                <a:ea typeface="Sabon Italics"/>
                <a:cs typeface="Sabon Italics"/>
                <a:sym typeface="Sabon Italics"/>
              </a:rPr>
              <a:t>EFICIÊNCIA ENERGÉTICA:</a:t>
            </a:r>
            <a:r>
              <a:rPr lang="en-US" sz="3420" i="true" spc="513">
                <a:solidFill>
                  <a:srgbClr val="8B61C2"/>
                </a:solidFill>
                <a:latin typeface="Sabon Italics"/>
                <a:ea typeface="Sabon Italics"/>
                <a:cs typeface="Sabon Italics"/>
                <a:sym typeface="Sabon Italics"/>
              </a:rPr>
              <a:t> </a:t>
            </a:r>
            <a:r>
              <a:rPr lang="en-US" sz="3420" i="true" spc="513">
                <a:solidFill>
                  <a:srgbClr val="FFFFFF"/>
                </a:solidFill>
                <a:latin typeface="Sabon Italics"/>
                <a:ea typeface="Sabon Italics"/>
                <a:cs typeface="Sabon Italics"/>
                <a:sym typeface="Sabon Italics"/>
              </a:rPr>
              <a:t>CHIPS NEUROMÓRFICOS CONSOMEM MUITO MENOS ENERGIA QUE OS PROCESSADORES TRADICIONAIS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820728"/>
            <a:ext cx="13535741" cy="146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0"/>
              </a:lnSpc>
            </a:pPr>
            <a:r>
              <a:rPr lang="en-US" sz="3200" i="true" spc="480">
                <a:solidFill>
                  <a:srgbClr val="5DB2E7"/>
                </a:solidFill>
                <a:latin typeface="Sabon Italics"/>
                <a:ea typeface="Sabon Italics"/>
                <a:cs typeface="Sabon Italics"/>
                <a:sym typeface="Sabon Italics"/>
              </a:rPr>
              <a:t>APRENDIZADO ADAPTATIVO:</a:t>
            </a:r>
            <a:r>
              <a:rPr lang="en-US" sz="3200" i="true" spc="480">
                <a:solidFill>
                  <a:srgbClr val="8B61C2"/>
                </a:solidFill>
                <a:latin typeface="Sabon Italics"/>
                <a:ea typeface="Sabon Italics"/>
                <a:cs typeface="Sabon Italics"/>
                <a:sym typeface="Sabon Italics"/>
              </a:rPr>
              <a:t> </a:t>
            </a:r>
            <a:r>
              <a:rPr lang="en-US" sz="3200" i="true" spc="480">
                <a:solidFill>
                  <a:srgbClr val="FFFFFF"/>
                </a:solidFill>
                <a:latin typeface="Sabon Italics"/>
                <a:ea typeface="Sabon Italics"/>
                <a:cs typeface="Sabon Italics"/>
                <a:sym typeface="Sabon Italics"/>
              </a:rPr>
              <a:t>PODEM SE AJUSTAR E APRENDER COM NOVAS INFORMAÇÕES SEM PRECISAR SER REPROGRAMADO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91600" y="7528381"/>
            <a:ext cx="16667700" cy="2281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96"/>
              </a:lnSpc>
            </a:pPr>
            <a:r>
              <a:rPr lang="en-US" sz="3823" i="true" spc="573">
                <a:solidFill>
                  <a:srgbClr val="5DB2E7"/>
                </a:solidFill>
                <a:latin typeface="Sabon Italics"/>
                <a:ea typeface="Sabon Italics"/>
                <a:cs typeface="Sabon Italics"/>
                <a:sym typeface="Sabon Italics"/>
              </a:rPr>
              <a:t>VELOCIDADE E ESCALABILIDADE: </a:t>
            </a:r>
            <a:r>
              <a:rPr lang="en-US" sz="3823" i="true" spc="573">
                <a:solidFill>
                  <a:srgbClr val="FFFFFF"/>
                </a:solidFill>
                <a:latin typeface="Sabon Italics"/>
                <a:ea typeface="Sabon Italics"/>
                <a:cs typeface="Sabon Italics"/>
                <a:sym typeface="Sabon Italics"/>
              </a:rPr>
              <a:t>RAPIDEZ SUPERIOR EM PROBLEMAS DE MACHINE LEARNING, QUANTO MAIS ‘NEURÔNIOS’ ADICIONADOS, MAIS PODEROSO O SISTEMA SE TORNA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2184380"/>
          </a:xfrm>
          <a:custGeom>
            <a:avLst/>
            <a:gdLst/>
            <a:ahLst/>
            <a:cxnLst/>
            <a:rect r="r" b="b" t="t" l="l"/>
            <a:pathLst>
              <a:path h="12184380" w="1828800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64368" y="2591964"/>
            <a:ext cx="6037526" cy="6562528"/>
          </a:xfrm>
          <a:custGeom>
            <a:avLst/>
            <a:gdLst/>
            <a:ahLst/>
            <a:cxnLst/>
            <a:rect r="r" b="b" t="t" l="l"/>
            <a:pathLst>
              <a:path h="6562528" w="6037526">
                <a:moveTo>
                  <a:pt x="0" y="0"/>
                </a:moveTo>
                <a:lnTo>
                  <a:pt x="6037526" y="0"/>
                </a:lnTo>
                <a:lnTo>
                  <a:pt x="6037526" y="6562528"/>
                </a:lnTo>
                <a:lnTo>
                  <a:pt x="0" y="65625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986095" y="1571625"/>
            <a:ext cx="8315811" cy="1020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04"/>
              </a:lnSpc>
            </a:pPr>
            <a:r>
              <a:rPr lang="en-US" b="true" sz="10314" i="true">
                <a:solidFill>
                  <a:srgbClr val="5DB2E7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Loihi (Intel)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806427" y="3964561"/>
            <a:ext cx="8546971" cy="212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5"/>
              </a:lnSpc>
            </a:pPr>
            <a:r>
              <a:rPr lang="en-US" sz="5665" i="true">
                <a:solidFill>
                  <a:srgbClr val="FFFFFF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1000x mais eficiente energéticamente que um CPU comum.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806427" y="6877879"/>
            <a:ext cx="8546971" cy="1432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5"/>
              </a:lnSpc>
            </a:pPr>
            <a:r>
              <a:rPr lang="en-US" sz="5665" i="true">
                <a:solidFill>
                  <a:srgbClr val="FFFFFF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ITAÚ implementou em sistemas antifraude.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2184380"/>
          </a:xfrm>
          <a:custGeom>
            <a:avLst/>
            <a:gdLst/>
            <a:ahLst/>
            <a:cxnLst/>
            <a:rect r="r" b="b" t="t" l="l"/>
            <a:pathLst>
              <a:path h="12184380" w="1828800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35208" y="0"/>
            <a:ext cx="8839438" cy="9258300"/>
          </a:xfrm>
          <a:custGeom>
            <a:avLst/>
            <a:gdLst/>
            <a:ahLst/>
            <a:cxnLst/>
            <a:rect r="r" b="b" t="t" l="l"/>
            <a:pathLst>
              <a:path h="9258300" w="8839438">
                <a:moveTo>
                  <a:pt x="8839437" y="0"/>
                </a:moveTo>
                <a:lnTo>
                  <a:pt x="0" y="0"/>
                </a:lnTo>
                <a:lnTo>
                  <a:pt x="0" y="9258300"/>
                </a:lnTo>
                <a:lnTo>
                  <a:pt x="8839437" y="9258300"/>
                </a:lnTo>
                <a:lnTo>
                  <a:pt x="8839437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253874" y="1817303"/>
            <a:ext cx="9165057" cy="134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3"/>
              </a:lnSpc>
            </a:pPr>
            <a:r>
              <a:rPr lang="en-US" b="true" sz="6881" i="true" spc="1224">
                <a:solidFill>
                  <a:srgbClr val="5DB2E7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K-FLEX </a:t>
            </a:r>
          </a:p>
          <a:p>
            <a:pPr algn="ctr">
              <a:lnSpc>
                <a:spcPts val="6056"/>
              </a:lnSpc>
            </a:pPr>
            <a:r>
              <a:rPr lang="en-US" b="true" sz="6881" i="true" spc="392">
                <a:solidFill>
                  <a:srgbClr val="5DB2E7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(Coréia do Sul)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303631" y="4352838"/>
            <a:ext cx="8115300" cy="3469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78"/>
              </a:lnSpc>
            </a:pPr>
            <a:r>
              <a:rPr lang="en-US" sz="4454" i="true">
                <a:solidFill>
                  <a:srgbClr val="FFFFFF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ROBÔ CIRÚRGICO ESPECIALISTA NO MANUSEIO DE TECIDOS VIVOS, ATUA SEM DEIXAR CICATRIZES EXTERNAS.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897380"/>
            <a:ext cx="18288000" cy="12184380"/>
          </a:xfrm>
          <a:custGeom>
            <a:avLst/>
            <a:gdLst/>
            <a:ahLst/>
            <a:cxnLst/>
            <a:rect r="r" b="b" t="t" l="l"/>
            <a:pathLst>
              <a:path h="12184380" w="1828800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450291" y="4028889"/>
            <a:ext cx="11682417" cy="2794557"/>
            <a:chOff x="0" y="0"/>
            <a:chExt cx="15576556" cy="372607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0624" cy="803531"/>
            </a:xfrm>
            <a:custGeom>
              <a:avLst/>
              <a:gdLst/>
              <a:ahLst/>
              <a:cxnLst/>
              <a:rect r="r" b="b" t="t" l="l"/>
              <a:pathLst>
                <a:path h="803531" w="810624">
                  <a:moveTo>
                    <a:pt x="0" y="0"/>
                  </a:moveTo>
                  <a:lnTo>
                    <a:pt x="810624" y="0"/>
                  </a:lnTo>
                  <a:lnTo>
                    <a:pt x="810624" y="803531"/>
                  </a:lnTo>
                  <a:lnTo>
                    <a:pt x="0" y="8035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1187822" y="-76200"/>
              <a:ext cx="14388735" cy="38022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5533"/>
                </a:lnSpc>
              </a:pPr>
              <a:r>
                <a:rPr lang="en-US" sz="4811" i="true" spc="721">
                  <a:solidFill>
                    <a:srgbClr val="FFFFFF"/>
                  </a:solidFill>
                  <a:latin typeface="Sabon Italics"/>
                  <a:ea typeface="Sabon Italics"/>
                  <a:cs typeface="Sabon Italics"/>
                  <a:sym typeface="Sabon Italics"/>
                </a:rPr>
                <a:t>ELYEL DOS SANTOS</a:t>
              </a:r>
            </a:p>
            <a:p>
              <a:pPr algn="just">
                <a:lnSpc>
                  <a:spcPts val="5533"/>
                </a:lnSpc>
              </a:pPr>
              <a:r>
                <a:rPr lang="en-US" sz="4811" i="true" spc="721">
                  <a:solidFill>
                    <a:srgbClr val="FFFFFF"/>
                  </a:solidFill>
                  <a:latin typeface="Sabon Italics"/>
                  <a:ea typeface="Sabon Italics"/>
                  <a:cs typeface="Sabon Italics"/>
                  <a:sym typeface="Sabon Italics"/>
                </a:rPr>
                <a:t>FRANKLIN MEIRA</a:t>
              </a:r>
            </a:p>
            <a:p>
              <a:pPr algn="just">
                <a:lnSpc>
                  <a:spcPts val="5533"/>
                </a:lnSpc>
              </a:pPr>
              <a:r>
                <a:rPr lang="en-US" sz="4811" i="true" spc="721">
                  <a:solidFill>
                    <a:srgbClr val="FFFFFF"/>
                  </a:solidFill>
                  <a:latin typeface="Sabon Italics"/>
                  <a:ea typeface="Sabon Italics"/>
                  <a:cs typeface="Sabon Italics"/>
                  <a:sym typeface="Sabon Italics"/>
                </a:rPr>
                <a:t>GUSTAVO BECKER</a:t>
              </a:r>
            </a:p>
            <a:p>
              <a:pPr algn="just">
                <a:lnSpc>
                  <a:spcPts val="5533"/>
                </a:lnSpc>
              </a:pPr>
              <a:r>
                <a:rPr lang="en-US" sz="4811" i="true" spc="721">
                  <a:solidFill>
                    <a:srgbClr val="FFFFFF"/>
                  </a:solidFill>
                  <a:latin typeface="Sabon Italics"/>
                  <a:ea typeface="Sabon Italics"/>
                  <a:cs typeface="Sabon Italics"/>
                  <a:sym typeface="Sabon Italics"/>
                </a:rPr>
                <a:t>JACKSON LUIZ CORONETTI</a:t>
              </a:r>
            </a:p>
          </p:txBody>
        </p:sp>
        <p:sp>
          <p:nvSpPr>
            <p:cNvPr name="Freeform 6" id="6"/>
            <p:cNvSpPr/>
            <p:nvPr/>
          </p:nvSpPr>
          <p:spPr>
            <a:xfrm flipH="false" flipV="false" rot="0">
              <a:off x="0" y="957169"/>
              <a:ext cx="810624" cy="803531"/>
            </a:xfrm>
            <a:custGeom>
              <a:avLst/>
              <a:gdLst/>
              <a:ahLst/>
              <a:cxnLst/>
              <a:rect r="r" b="b" t="t" l="l"/>
              <a:pathLst>
                <a:path h="803531" w="810624">
                  <a:moveTo>
                    <a:pt x="0" y="0"/>
                  </a:moveTo>
                  <a:lnTo>
                    <a:pt x="810624" y="0"/>
                  </a:lnTo>
                  <a:lnTo>
                    <a:pt x="810624" y="803531"/>
                  </a:lnTo>
                  <a:lnTo>
                    <a:pt x="0" y="8035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1905880"/>
              <a:ext cx="810624" cy="803531"/>
            </a:xfrm>
            <a:custGeom>
              <a:avLst/>
              <a:gdLst/>
              <a:ahLst/>
              <a:cxnLst/>
              <a:rect r="r" b="b" t="t" l="l"/>
              <a:pathLst>
                <a:path h="803531" w="810624">
                  <a:moveTo>
                    <a:pt x="0" y="0"/>
                  </a:moveTo>
                  <a:lnTo>
                    <a:pt x="810624" y="0"/>
                  </a:lnTo>
                  <a:lnTo>
                    <a:pt x="810624" y="803530"/>
                  </a:lnTo>
                  <a:lnTo>
                    <a:pt x="0" y="8035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2854590"/>
              <a:ext cx="810624" cy="803531"/>
            </a:xfrm>
            <a:custGeom>
              <a:avLst/>
              <a:gdLst/>
              <a:ahLst/>
              <a:cxnLst/>
              <a:rect r="r" b="b" t="t" l="l"/>
              <a:pathLst>
                <a:path h="803531" w="810624">
                  <a:moveTo>
                    <a:pt x="0" y="0"/>
                  </a:moveTo>
                  <a:lnTo>
                    <a:pt x="810624" y="0"/>
                  </a:lnTo>
                  <a:lnTo>
                    <a:pt x="810624" y="803531"/>
                  </a:lnTo>
                  <a:lnTo>
                    <a:pt x="0" y="8035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0" y="8441608"/>
            <a:ext cx="4099345" cy="1301542"/>
          </a:xfrm>
          <a:custGeom>
            <a:avLst/>
            <a:gdLst/>
            <a:ahLst/>
            <a:cxnLst/>
            <a:rect r="r" b="b" t="t" l="l"/>
            <a:pathLst>
              <a:path h="1301542" w="4099345">
                <a:moveTo>
                  <a:pt x="0" y="0"/>
                </a:moveTo>
                <a:lnTo>
                  <a:pt x="4099345" y="0"/>
                </a:lnTo>
                <a:lnTo>
                  <a:pt x="4099345" y="1301542"/>
                </a:lnTo>
                <a:lnTo>
                  <a:pt x="0" y="13015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008597" y="8554687"/>
            <a:ext cx="13124111" cy="980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9"/>
              </a:lnSpc>
            </a:pPr>
            <a:r>
              <a:rPr lang="en-US" sz="5852" i="true" spc="877">
                <a:solidFill>
                  <a:srgbClr val="5DB2E7"/>
                </a:solidFill>
                <a:latin typeface="Sabon Italics"/>
                <a:ea typeface="Sabon Italics"/>
                <a:cs typeface="Sabon Italics"/>
                <a:sym typeface="Sabon Italics"/>
              </a:rPr>
              <a:t>CIRCUITOS DIGITAIS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562753" y="1724025"/>
            <a:ext cx="13162495" cy="1788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11"/>
              </a:lnSpc>
            </a:pPr>
            <a:r>
              <a:rPr lang="en-US" b="true" sz="16326" i="true">
                <a:solidFill>
                  <a:srgbClr val="5DB2E7"/>
                </a:solidFill>
                <a:latin typeface="Migra Ultra-Bold Italics"/>
                <a:ea typeface="Migra Ultra-Bold Italics"/>
                <a:cs typeface="Migra Ultra-Bold Italics"/>
                <a:sym typeface="Migra Ultra-Bold Italics"/>
              </a:rPr>
              <a:t>OBRIGADO !!!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DAHMgwGToY8</dc:identifier>
  <dcterms:modified xsi:type="dcterms:W3CDTF">2011-08-01T06:04:30Z</dcterms:modified>
  <cp:revision>1</cp:revision>
  <dc:title>tech powered</dc:title>
</cp:coreProperties>
</file>